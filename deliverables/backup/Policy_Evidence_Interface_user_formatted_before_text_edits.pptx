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48" y="-4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: TECHNICAL PROJECT UPDATE"/>
          <p:cNvSpPr txBox="1"/>
          <p:nvPr/>
        </p:nvSpPr>
        <p:spPr>
          <a:xfrm>
            <a:off x="762000" y="722858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5B123"/>
                </a:solidFill>
                <a:latin typeface="Arial"/>
              </a:defRPr>
            </a:pPr>
            <a:r>
              <a:t>TECHNICAL PROJECT UPDATE</a:t>
            </a:r>
          </a:p>
        </p:txBody>
      </p:sp>
      <p:sp>
        <p:nvSpPr>
          <p:cNvPr id="4" name="Text: Policy Evidence&#10;Interface"/>
          <p:cNvSpPr txBox="1"/>
          <p:nvPr/>
        </p:nvSpPr>
        <p:spPr>
          <a:xfrm>
            <a:off x="762000" y="2028141"/>
            <a:ext cx="6248400" cy="13234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4300" b="1">
                <a:solidFill>
                  <a:srgbClr val="FFFFFF"/>
                </a:solidFill>
                <a:latin typeface="Arial"/>
              </a:defRPr>
            </a:pPr>
            <a:r>
              <a:rPr dirty="0"/>
              <a:t>Policy Evidence</a:t>
            </a:r>
            <a:br>
              <a:rPr dirty="0"/>
            </a:br>
            <a:r>
              <a:rPr dirty="0"/>
              <a:t>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581400"/>
            <a:ext cx="1889760" cy="6096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: A controlled AI interface for Drupa"/>
          <p:cNvSpPr txBox="1"/>
          <p:nvPr/>
        </p:nvSpPr>
        <p:spPr>
          <a:xfrm>
            <a:off x="762000" y="4090525"/>
            <a:ext cx="60198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D5DDE2"/>
                </a:solidFill>
                <a:latin typeface="Arial"/>
              </a:defRPr>
            </a:pPr>
            <a:r>
              <a:t>A controlled AI interface for Drupal policy evidence</a:t>
            </a:r>
          </a:p>
        </p:txBody>
      </p:sp>
      <p:sp>
        <p:nvSpPr>
          <p:cNvPr id="7" name="Text: ANU TechLauncher  •  31 July 2026"/>
          <p:cNvSpPr txBox="1"/>
          <p:nvPr/>
        </p:nvSpPr>
        <p:spPr>
          <a:xfrm>
            <a:off x="762000" y="6026601"/>
            <a:ext cx="38100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89949D"/>
                </a:solidFill>
                <a:latin typeface="Arial"/>
              </a:defRPr>
            </a:pPr>
            <a:r>
              <a:t>ANU TechLauncher  •  31 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7599" y="853440"/>
            <a:ext cx="3901440" cy="4739640"/>
          </a:xfrm>
          <a:prstGeom prst="roundRect">
            <a:avLst/>
          </a:prstGeom>
          <a:solidFill>
            <a:srgbClr val="1B2731"/>
          </a:solidFill>
          <a:ln w="12700">
            <a:solidFill>
              <a:srgbClr val="35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: PROJECT TEAM"/>
          <p:cNvSpPr txBox="1"/>
          <p:nvPr/>
        </p:nvSpPr>
        <p:spPr>
          <a:xfrm>
            <a:off x="7772400" y="1164967"/>
            <a:ext cx="2286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5B123"/>
                </a:solidFill>
                <a:latin typeface="Arial"/>
              </a:defRPr>
            </a:pPr>
            <a:r>
              <a:t>PROJECT TEAM</a:t>
            </a:r>
          </a:p>
        </p:txBody>
      </p:sp>
      <p:sp>
        <p:nvSpPr>
          <p:cNvPr id="10" name="Text: Harry Baard"/>
          <p:cNvSpPr txBox="1"/>
          <p:nvPr/>
        </p:nvSpPr>
        <p:spPr>
          <a:xfrm>
            <a:off x="7772400" y="1524000"/>
            <a:ext cx="29718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Harry Baard</a:t>
            </a:r>
          </a:p>
        </p:txBody>
      </p:sp>
      <p:sp>
        <p:nvSpPr>
          <p:cNvPr id="11" name="Text: Amogh Agarwal"/>
          <p:cNvSpPr txBox="1"/>
          <p:nvPr/>
        </p:nvSpPr>
        <p:spPr>
          <a:xfrm>
            <a:off x="7772400" y="1844040"/>
            <a:ext cx="29718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Amogh Agarwal</a:t>
            </a:r>
          </a:p>
        </p:txBody>
      </p:sp>
      <p:sp>
        <p:nvSpPr>
          <p:cNvPr id="12" name="Text: Peter Wei"/>
          <p:cNvSpPr txBox="1"/>
          <p:nvPr/>
        </p:nvSpPr>
        <p:spPr>
          <a:xfrm>
            <a:off x="7772400" y="2164080"/>
            <a:ext cx="29718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Peter Wei</a:t>
            </a:r>
          </a:p>
        </p:txBody>
      </p:sp>
      <p:sp>
        <p:nvSpPr>
          <p:cNvPr id="13" name="Text: Qiyue Zhang"/>
          <p:cNvSpPr txBox="1"/>
          <p:nvPr/>
        </p:nvSpPr>
        <p:spPr>
          <a:xfrm>
            <a:off x="7772400" y="2484120"/>
            <a:ext cx="29718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Qiyue Zhang</a:t>
            </a:r>
          </a:p>
        </p:txBody>
      </p:sp>
      <p:sp>
        <p:nvSpPr>
          <p:cNvPr id="14" name="Text: Shiyun Yao"/>
          <p:cNvSpPr txBox="1"/>
          <p:nvPr/>
        </p:nvSpPr>
        <p:spPr>
          <a:xfrm>
            <a:off x="7772400" y="2804160"/>
            <a:ext cx="29718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Shiyun Yao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291840"/>
            <a:ext cx="3291840" cy="15240"/>
          </a:xfrm>
          <a:prstGeom prst="rect">
            <a:avLst/>
          </a:prstGeom>
          <a:solidFill>
            <a:srgbClr val="425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: CURRENT TUTOR"/>
          <p:cNvSpPr txBox="1"/>
          <p:nvPr/>
        </p:nvSpPr>
        <p:spPr>
          <a:xfrm>
            <a:off x="7772400" y="3566160"/>
            <a:ext cx="1676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5B123"/>
                </a:solidFill>
                <a:latin typeface="Arial"/>
              </a:defRPr>
            </a:pPr>
            <a:r>
              <a:rPr dirty="0"/>
              <a:t>TUTOR</a:t>
            </a:r>
          </a:p>
        </p:txBody>
      </p:sp>
      <p:sp>
        <p:nvSpPr>
          <p:cNvPr id="17" name="Text: Zara Hassan"/>
          <p:cNvSpPr txBox="1"/>
          <p:nvPr/>
        </p:nvSpPr>
        <p:spPr>
          <a:xfrm>
            <a:off x="7772400" y="381000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D4DCE1"/>
                </a:solidFill>
                <a:latin typeface="Arial"/>
              </a:defRPr>
            </a:pPr>
            <a:r>
              <a:rPr lang="en-US" dirty="0"/>
              <a:t>Dr. </a:t>
            </a:r>
            <a:r>
              <a:rPr dirty="0"/>
              <a:t>Zara Hassan</a:t>
            </a:r>
          </a:p>
        </p:txBody>
      </p:sp>
      <p:sp>
        <p:nvSpPr>
          <p:cNvPr id="18" name="Text: CLIENT"/>
          <p:cNvSpPr txBox="1"/>
          <p:nvPr/>
        </p:nvSpPr>
        <p:spPr>
          <a:xfrm>
            <a:off x="7772400" y="4266456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5B123"/>
                </a:solidFill>
                <a:latin typeface="Arial"/>
              </a:defRPr>
            </a:pPr>
            <a:r>
              <a:t>CLIENT</a:t>
            </a:r>
          </a:p>
        </p:txBody>
      </p:sp>
      <p:sp>
        <p:nvSpPr>
          <p:cNvPr id="19" name="Text: Dr. Harry Rolf"/>
          <p:cNvSpPr txBox="1"/>
          <p:nvPr/>
        </p:nvSpPr>
        <p:spPr>
          <a:xfrm>
            <a:off x="7772400" y="449580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D4DCE1"/>
                </a:solidFill>
                <a:latin typeface="Arial"/>
              </a:defRPr>
            </a:pPr>
            <a:r>
              <a:rPr dirty="0"/>
              <a:t>Dr. Harry Rolf</a:t>
            </a:r>
            <a:r>
              <a:rPr lang="en-US" dirty="0"/>
              <a:t> @ShapePolicy</a:t>
            </a:r>
            <a:endParaRPr dirty="0"/>
          </a:p>
        </p:txBody>
      </p:sp>
      <p:sp>
        <p:nvSpPr>
          <p:cNvPr id="21" name="Text: 01"/>
          <p:cNvSpPr txBox="1"/>
          <p:nvPr/>
        </p:nvSpPr>
        <p:spPr>
          <a:xfrm>
            <a:off x="11125200" y="6026601"/>
            <a:ext cx="3810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E5B123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3880" y="441960"/>
            <a:ext cx="76200" cy="43434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: 01 • VISION"/>
          <p:cNvSpPr txBox="1"/>
          <p:nvPr/>
        </p:nvSpPr>
        <p:spPr>
          <a:xfrm>
            <a:off x="822960" y="433298"/>
            <a:ext cx="4953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A6A00"/>
                </a:solidFill>
                <a:latin typeface="Arial"/>
              </a:defRPr>
            </a:pPr>
            <a:r>
              <a:t>01 • VISION</a:t>
            </a:r>
          </a:p>
        </p:txBody>
      </p:sp>
      <p:sp>
        <p:nvSpPr>
          <p:cNvPr id="4" name="Text: Design intent"/>
          <p:cNvSpPr txBox="1"/>
          <p:nvPr/>
        </p:nvSpPr>
        <p:spPr>
          <a:xfrm>
            <a:off x="822960" y="637773"/>
            <a:ext cx="1028700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11820"/>
                </a:solidFill>
                <a:latin typeface="Arial"/>
              </a:defRPr>
            </a:pPr>
            <a:r>
              <a:t>Design intent</a:t>
            </a:r>
          </a:p>
        </p:txBody>
      </p:sp>
      <p:sp>
        <p:nvSpPr>
          <p:cNvPr id="5" name="Text: A controlled machine interface for "/>
          <p:cNvSpPr txBox="1"/>
          <p:nvPr/>
        </p:nvSpPr>
        <p:spPr>
          <a:xfrm>
            <a:off x="822960" y="1111329"/>
            <a:ext cx="10287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C6E81"/>
                </a:solidFill>
                <a:latin typeface="Arial"/>
              </a:defRPr>
            </a:pPr>
            <a:r>
              <a:rPr dirty="0"/>
              <a:t>A controlled machine interface for curated policy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80" y="1676400"/>
            <a:ext cx="3779520" cy="3703320"/>
          </a:xfrm>
          <a:prstGeom prst="round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: THE TENSION"/>
          <p:cNvSpPr txBox="1"/>
          <p:nvPr/>
        </p:nvSpPr>
        <p:spPr>
          <a:xfrm>
            <a:off x="853440" y="1987926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5B123"/>
                </a:solidFill>
                <a:latin typeface="Arial"/>
              </a:defRPr>
            </a:pPr>
            <a:r>
              <a:t>THE TENSION</a:t>
            </a:r>
          </a:p>
        </p:txBody>
      </p:sp>
      <p:sp>
        <p:nvSpPr>
          <p:cNvPr id="8" name="Text: AI tools need fast,&#10;direct access."/>
          <p:cNvSpPr txBox="1"/>
          <p:nvPr/>
        </p:nvSpPr>
        <p:spPr>
          <a:xfrm>
            <a:off x="853440" y="2358926"/>
            <a:ext cx="30480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AI tools need fast,</a:t>
            </a:r>
            <a:br>
              <a:rPr dirty="0"/>
            </a:br>
            <a:r>
              <a:rPr dirty="0"/>
              <a:t>direct access.</a:t>
            </a:r>
          </a:p>
        </p:txBody>
      </p:sp>
      <p:sp>
        <p:nvSpPr>
          <p:cNvPr id="9" name="Text: Policy evidence needs&#10;provenance, p"/>
          <p:cNvSpPr txBox="1"/>
          <p:nvPr/>
        </p:nvSpPr>
        <p:spPr>
          <a:xfrm>
            <a:off x="853440" y="2915722"/>
            <a:ext cx="3124200" cy="13542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Policy evidence needs</a:t>
            </a:r>
            <a:br>
              <a:rPr dirty="0"/>
            </a:br>
            <a:r>
              <a:rPr dirty="0"/>
              <a:t>provenance, permissions</a:t>
            </a:r>
            <a:br>
              <a:rPr dirty="0"/>
            </a:br>
            <a:r>
              <a:rPr dirty="0"/>
              <a:t>and context.</a:t>
            </a:r>
          </a:p>
        </p:txBody>
      </p:sp>
      <p:sp>
        <p:nvSpPr>
          <p:cNvPr id="10" name="Text: A web-first repository does not aut"/>
          <p:cNvSpPr txBox="1"/>
          <p:nvPr/>
        </p:nvSpPr>
        <p:spPr>
          <a:xfrm>
            <a:off x="853440" y="4462418"/>
            <a:ext cx="304800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BFC8CE"/>
                </a:solidFill>
                <a:latin typeface="Arial"/>
              </a:defRPr>
            </a:pPr>
            <a:r>
              <a:rPr dirty="0"/>
              <a:t>A web-first repository does not automatically provide those controls to automated research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4400" y="1676400"/>
            <a:ext cx="6903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937760" y="1927860"/>
            <a:ext cx="502920" cy="50292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: 1"/>
          <p:cNvSpPr txBox="1"/>
          <p:nvPr/>
        </p:nvSpPr>
        <p:spPr>
          <a:xfrm>
            <a:off x="4937760" y="2048515"/>
            <a:ext cx="5029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182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4" name="Text: GROUNDED"/>
          <p:cNvSpPr txBox="1"/>
          <p:nvPr/>
        </p:nvSpPr>
        <p:spPr>
          <a:xfrm>
            <a:off x="5654040" y="1881097"/>
            <a:ext cx="1905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GROUNDED</a:t>
            </a:r>
          </a:p>
        </p:txBody>
      </p:sp>
      <p:sp>
        <p:nvSpPr>
          <p:cNvPr id="15" name="Text: Answers begin with published Drupal"/>
          <p:cNvSpPr txBox="1"/>
          <p:nvPr/>
        </p:nvSpPr>
        <p:spPr>
          <a:xfrm>
            <a:off x="5654040" y="2246932"/>
            <a:ext cx="5600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C6E81"/>
                </a:solidFill>
                <a:latin typeface="Arial"/>
              </a:defRPr>
            </a:pPr>
            <a:r>
              <a:t>Answers begin with published Drupal content and retain source 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24400" y="2880360"/>
            <a:ext cx="6903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37760" y="3131820"/>
            <a:ext cx="502920" cy="50292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: 2"/>
          <p:cNvSpPr txBox="1"/>
          <p:nvPr/>
        </p:nvSpPr>
        <p:spPr>
          <a:xfrm>
            <a:off x="4937760" y="3252475"/>
            <a:ext cx="5029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: GOVERNED"/>
          <p:cNvSpPr txBox="1"/>
          <p:nvPr/>
        </p:nvSpPr>
        <p:spPr>
          <a:xfrm>
            <a:off x="5654040" y="3085058"/>
            <a:ext cx="1905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GOVERNED</a:t>
            </a:r>
          </a:p>
        </p:txBody>
      </p:sp>
      <p:sp>
        <p:nvSpPr>
          <p:cNvPr id="20" name="Text: Access and future licensing rules r"/>
          <p:cNvSpPr txBox="1"/>
          <p:nvPr/>
        </p:nvSpPr>
        <p:spPr>
          <a:xfrm>
            <a:off x="5654040" y="3450892"/>
            <a:ext cx="5600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C6E81"/>
                </a:solidFill>
                <a:latin typeface="Arial"/>
              </a:defRPr>
            </a:pPr>
            <a:r>
              <a:t>Access and future licensing rules remain under repository control.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24400" y="4084320"/>
            <a:ext cx="6903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937760" y="4335780"/>
            <a:ext cx="502920" cy="502920"/>
          </a:xfrm>
          <a:prstGeom prst="ellipse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: 3"/>
          <p:cNvSpPr txBox="1"/>
          <p:nvPr/>
        </p:nvSpPr>
        <p:spPr>
          <a:xfrm>
            <a:off x="4937760" y="4456435"/>
            <a:ext cx="5029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4" name="Text: EXTENSIBLE"/>
          <p:cNvSpPr txBox="1"/>
          <p:nvPr/>
        </p:nvSpPr>
        <p:spPr>
          <a:xfrm>
            <a:off x="5654040" y="4289018"/>
            <a:ext cx="1905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EXTENSIBLE</a:t>
            </a:r>
          </a:p>
        </p:txBody>
      </p:sp>
      <p:sp>
        <p:nvSpPr>
          <p:cNvPr id="25" name="Text: New retrieval functions can be adde"/>
          <p:cNvSpPr txBox="1"/>
          <p:nvPr/>
        </p:nvSpPr>
        <p:spPr>
          <a:xfrm>
            <a:off x="5654040" y="4654852"/>
            <a:ext cx="5600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C6E81"/>
                </a:solidFill>
                <a:latin typeface="Arial"/>
              </a:defRPr>
            </a:pPr>
            <a:r>
              <a:t>New retrieval functions can be added through Drupal plugins.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880" y="5669280"/>
            <a:ext cx="11064240" cy="533400"/>
          </a:xfrm>
          <a:prstGeom prst="roundRect">
            <a:avLst/>
          </a:prstGeom>
          <a:solidFill>
            <a:srgbClr val="F1E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: DESIGN PRINCIPLE"/>
          <p:cNvSpPr txBox="1"/>
          <p:nvPr/>
        </p:nvSpPr>
        <p:spPr>
          <a:xfrm>
            <a:off x="788329" y="5828258"/>
            <a:ext cx="170824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9A6A00"/>
                </a:solidFill>
                <a:latin typeface="Arial"/>
              </a:defRPr>
            </a:pPr>
            <a:r>
              <a:rPr sz="1400" dirty="0"/>
              <a:t>DESIGN PRINCIPLE</a:t>
            </a:r>
          </a:p>
        </p:txBody>
      </p:sp>
      <p:sp>
        <p:nvSpPr>
          <p:cNvPr id="28" name="Text: Drupal remains the source of truth;"/>
          <p:cNvSpPr txBox="1"/>
          <p:nvPr/>
        </p:nvSpPr>
        <p:spPr>
          <a:xfrm>
            <a:off x="2721022" y="5828258"/>
            <a:ext cx="85344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rPr dirty="0"/>
              <a:t>Drupal remains the source of truth; MCP is the access layer, not a replacement repository.</a:t>
            </a:r>
          </a:p>
        </p:txBody>
      </p:sp>
      <p:sp>
        <p:nvSpPr>
          <p:cNvPr id="29" name="Text: 02"/>
          <p:cNvSpPr txBox="1"/>
          <p:nvPr/>
        </p:nvSpPr>
        <p:spPr>
          <a:xfrm>
            <a:off x="11125200" y="6483801"/>
            <a:ext cx="5029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3880" y="441960"/>
            <a:ext cx="76200" cy="43434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: 02 • PROTOTYPE"/>
          <p:cNvSpPr txBox="1"/>
          <p:nvPr/>
        </p:nvSpPr>
        <p:spPr>
          <a:xfrm>
            <a:off x="822960" y="433298"/>
            <a:ext cx="4953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A6A00"/>
                </a:solidFill>
                <a:latin typeface="Arial"/>
              </a:defRPr>
            </a:pPr>
            <a:r>
              <a:t>02 • PROTOTYPE</a:t>
            </a:r>
          </a:p>
        </p:txBody>
      </p:sp>
      <p:sp>
        <p:nvSpPr>
          <p:cNvPr id="4" name="Text: Prototype proof"/>
          <p:cNvSpPr txBox="1"/>
          <p:nvPr/>
        </p:nvSpPr>
        <p:spPr>
          <a:xfrm>
            <a:off x="822960" y="637773"/>
            <a:ext cx="1028700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11820"/>
                </a:solidFill>
                <a:latin typeface="Arial"/>
              </a:defRPr>
            </a:pPr>
            <a:r>
              <a:t>Prototype proof</a:t>
            </a:r>
          </a:p>
        </p:txBody>
      </p:sp>
      <p:sp>
        <p:nvSpPr>
          <p:cNvPr id="5" name="Text: What the current code demonstrates "/>
          <p:cNvSpPr txBox="1"/>
          <p:nvPr/>
        </p:nvSpPr>
        <p:spPr>
          <a:xfrm>
            <a:off x="822960" y="1111329"/>
            <a:ext cx="10287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C6E81"/>
                </a:solidFill>
                <a:latin typeface="Arial"/>
              </a:defRPr>
            </a:pPr>
            <a:r>
              <a:t>What the current code demonstrates end to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80" y="1676400"/>
            <a:ext cx="1752600" cy="929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: AI CLIENT"/>
          <p:cNvSpPr txBox="1"/>
          <p:nvPr/>
        </p:nvSpPr>
        <p:spPr>
          <a:xfrm>
            <a:off x="640080" y="1881172"/>
            <a:ext cx="16002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rPr dirty="0"/>
              <a:t>AI CLIENT</a:t>
            </a:r>
          </a:p>
        </p:txBody>
      </p:sp>
      <p:sp>
        <p:nvSpPr>
          <p:cNvPr id="8" name="Text: MCP request"/>
          <p:cNvSpPr txBox="1"/>
          <p:nvPr/>
        </p:nvSpPr>
        <p:spPr>
          <a:xfrm>
            <a:off x="640080" y="2231841"/>
            <a:ext cx="1600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E81"/>
                </a:solidFill>
                <a:latin typeface="Arial"/>
              </a:defRPr>
            </a:pPr>
            <a:r>
              <a:t>MCP request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92680" y="2049780"/>
            <a:ext cx="182880" cy="182880"/>
          </a:xfrm>
          <a:prstGeom prst="rightArrow">
            <a:avLst/>
          </a:prstGeom>
          <a:solidFill>
            <a:srgbClr val="9A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51760" y="1676400"/>
            <a:ext cx="1905000" cy="929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: TRANSPORT"/>
          <p:cNvSpPr txBox="1"/>
          <p:nvPr/>
        </p:nvSpPr>
        <p:spPr>
          <a:xfrm>
            <a:off x="2727960" y="1881172"/>
            <a:ext cx="1752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TRANSPORT</a:t>
            </a:r>
          </a:p>
        </p:txBody>
      </p:sp>
      <p:sp>
        <p:nvSpPr>
          <p:cNvPr id="12" name="Text: HTTP or stdio"/>
          <p:cNvSpPr txBox="1"/>
          <p:nvPr/>
        </p:nvSpPr>
        <p:spPr>
          <a:xfrm>
            <a:off x="2727960" y="2231841"/>
            <a:ext cx="1752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E81"/>
                </a:solidFill>
                <a:latin typeface="Arial"/>
              </a:defRPr>
            </a:pPr>
            <a:r>
              <a:t>HTTP or stdio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32960" y="2049780"/>
            <a:ext cx="182880" cy="182880"/>
          </a:xfrm>
          <a:prstGeom prst="rightArrow">
            <a:avLst/>
          </a:prstGeom>
          <a:solidFill>
            <a:srgbClr val="9A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92040" y="1676400"/>
            <a:ext cx="1981199" cy="929640"/>
          </a:xfrm>
          <a:prstGeom prst="round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: DISPATCH"/>
          <p:cNvSpPr txBox="1"/>
          <p:nvPr/>
        </p:nvSpPr>
        <p:spPr>
          <a:xfrm>
            <a:off x="4968240" y="1881172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E5B123"/>
                </a:solidFill>
                <a:latin typeface="Arial"/>
              </a:defRPr>
            </a:pPr>
            <a:r>
              <a:t>DISPATCH</a:t>
            </a:r>
          </a:p>
        </p:txBody>
      </p:sp>
      <p:sp>
        <p:nvSpPr>
          <p:cNvPr id="16" name="Text: JSON-RPC methods"/>
          <p:cNvSpPr txBox="1"/>
          <p:nvPr/>
        </p:nvSpPr>
        <p:spPr>
          <a:xfrm>
            <a:off x="4968240" y="2231841"/>
            <a:ext cx="1828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JSON-RPC methods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49440" y="2049780"/>
            <a:ext cx="182880" cy="182880"/>
          </a:xfrm>
          <a:prstGeom prst="rightArrow">
            <a:avLst/>
          </a:prstGeom>
          <a:solidFill>
            <a:srgbClr val="9A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08520" y="1676400"/>
            <a:ext cx="1981199" cy="929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: PLUGIN LAYER"/>
          <p:cNvSpPr txBox="1"/>
          <p:nvPr/>
        </p:nvSpPr>
        <p:spPr>
          <a:xfrm>
            <a:off x="7284720" y="1881172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PLUGIN LAYER</a:t>
            </a:r>
          </a:p>
        </p:txBody>
      </p:sp>
      <p:sp>
        <p:nvSpPr>
          <p:cNvPr id="20" name="Text: tools + resources"/>
          <p:cNvSpPr txBox="1"/>
          <p:nvPr/>
        </p:nvSpPr>
        <p:spPr>
          <a:xfrm>
            <a:off x="7284720" y="2231841"/>
            <a:ext cx="1828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E81"/>
                </a:solidFill>
                <a:latin typeface="Arial"/>
              </a:defRPr>
            </a:pPr>
            <a:r>
              <a:t>tools + resources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65920" y="2049780"/>
            <a:ext cx="182880" cy="182880"/>
          </a:xfrm>
          <a:prstGeom prst="rightArrow">
            <a:avLst/>
          </a:prstGeom>
          <a:solidFill>
            <a:srgbClr val="9A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25000" y="1676400"/>
            <a:ext cx="2103120" cy="929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: DRUPAL DATA"/>
          <p:cNvSpPr txBox="1"/>
          <p:nvPr/>
        </p:nvSpPr>
        <p:spPr>
          <a:xfrm>
            <a:off x="9601200" y="1881172"/>
            <a:ext cx="19507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DRUPAL DATA</a:t>
            </a:r>
          </a:p>
        </p:txBody>
      </p:sp>
      <p:sp>
        <p:nvSpPr>
          <p:cNvPr id="24" name="Text: nodes + PDFs"/>
          <p:cNvSpPr txBox="1"/>
          <p:nvPr/>
        </p:nvSpPr>
        <p:spPr>
          <a:xfrm>
            <a:off x="9601200" y="2231841"/>
            <a:ext cx="1950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E81"/>
                </a:solidFill>
                <a:latin typeface="Arial"/>
              </a:defRPr>
            </a:pPr>
            <a:r>
              <a:t>nodes + PDFs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3880" y="3048000"/>
            <a:ext cx="2514600" cy="231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3880" y="3048000"/>
            <a:ext cx="2514600" cy="9144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: CONNECT"/>
          <p:cNvSpPr txBox="1"/>
          <p:nvPr/>
        </p:nvSpPr>
        <p:spPr>
          <a:xfrm>
            <a:off x="777240" y="3351907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11820"/>
                </a:solidFill>
                <a:latin typeface="Arial"/>
              </a:defRPr>
            </a:pPr>
            <a:r>
              <a:rPr dirty="0"/>
              <a:t>CONNECT</a:t>
            </a:r>
          </a:p>
        </p:txBody>
      </p:sp>
      <p:sp>
        <p:nvSpPr>
          <p:cNvPr id="28" name="Text: 2 transports"/>
          <p:cNvSpPr txBox="1"/>
          <p:nvPr/>
        </p:nvSpPr>
        <p:spPr>
          <a:xfrm>
            <a:off x="777240" y="3694360"/>
            <a:ext cx="21336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5B123"/>
                </a:solidFill>
                <a:latin typeface="Arial"/>
              </a:defRPr>
            </a:pPr>
            <a:r>
              <a:rPr dirty="0"/>
              <a:t>2 transports</a:t>
            </a:r>
          </a:p>
        </p:txBody>
      </p:sp>
      <p:sp>
        <p:nvSpPr>
          <p:cNvPr id="29" name="Text: Browser/server clients and local co"/>
          <p:cNvSpPr txBox="1"/>
          <p:nvPr/>
        </p:nvSpPr>
        <p:spPr>
          <a:xfrm>
            <a:off x="788670" y="4303478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C6E81"/>
                </a:solidFill>
                <a:latin typeface="Arial"/>
              </a:defRPr>
            </a:pPr>
            <a:r>
              <a:rPr sz="1600" dirty="0"/>
              <a:t>Browser/server clients and local command-line clients.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3760" y="3048000"/>
            <a:ext cx="2514600" cy="231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13760" y="3048000"/>
            <a:ext cx="2514600" cy="91440"/>
          </a:xfrm>
          <a:prstGeom prst="rect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: DISCOVER"/>
          <p:cNvSpPr txBox="1"/>
          <p:nvPr/>
        </p:nvSpPr>
        <p:spPr>
          <a:xfrm>
            <a:off x="3627120" y="3351907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11820"/>
                </a:solidFill>
                <a:latin typeface="Arial"/>
              </a:defRPr>
            </a:pPr>
            <a:r>
              <a:t>DISCOVER</a:t>
            </a:r>
          </a:p>
        </p:txBody>
      </p:sp>
      <p:sp>
        <p:nvSpPr>
          <p:cNvPr id="33" name="Text: 5 tools • 3 resources"/>
          <p:cNvSpPr txBox="1"/>
          <p:nvPr/>
        </p:nvSpPr>
        <p:spPr>
          <a:xfrm>
            <a:off x="3627120" y="3672840"/>
            <a:ext cx="2301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5C6E81"/>
                </a:solidFill>
                <a:latin typeface="Arial"/>
              </a:defRPr>
            </a:pPr>
            <a:r>
              <a:rPr dirty="0"/>
              <a:t>5 tools</a:t>
            </a:r>
          </a:p>
        </p:txBody>
      </p:sp>
      <p:sp>
        <p:nvSpPr>
          <p:cNvPr id="34" name="Text: Clients can list capabilities befor"/>
          <p:cNvSpPr txBox="1"/>
          <p:nvPr/>
        </p:nvSpPr>
        <p:spPr>
          <a:xfrm>
            <a:off x="3695700" y="4322802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C6E81"/>
                </a:solidFill>
                <a:latin typeface="Arial"/>
              </a:defRPr>
            </a:pPr>
            <a:r>
              <a:rPr sz="1600" dirty="0"/>
              <a:t>Clients can list capabilities before calling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048000"/>
            <a:ext cx="2514600" cy="231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3048000"/>
            <a:ext cx="2514600" cy="91440"/>
          </a:xfrm>
          <a:prstGeom prst="rect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: RETRIEVE"/>
          <p:cNvSpPr txBox="1"/>
          <p:nvPr/>
        </p:nvSpPr>
        <p:spPr>
          <a:xfrm>
            <a:off x="6477000" y="3351907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11820"/>
                </a:solidFill>
                <a:latin typeface="Arial"/>
              </a:defRPr>
            </a:pPr>
            <a:r>
              <a:t>RETRIEVE</a:t>
            </a:r>
          </a:p>
        </p:txBody>
      </p:sp>
      <p:sp>
        <p:nvSpPr>
          <p:cNvPr id="38" name="Text: nodes • fields • PDF page"/>
          <p:cNvSpPr txBox="1"/>
          <p:nvPr/>
        </p:nvSpPr>
        <p:spPr>
          <a:xfrm>
            <a:off x="6477000" y="3672840"/>
            <a:ext cx="2301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F6B57"/>
                </a:solidFill>
                <a:latin typeface="Arial"/>
              </a:defRPr>
            </a:pPr>
            <a:r>
              <a:rPr dirty="0"/>
              <a:t>nodes • fields • page</a:t>
            </a:r>
          </a:p>
        </p:txBody>
      </p:sp>
      <p:sp>
        <p:nvSpPr>
          <p:cNvPr id="39" name="Text: Published content is returned as st"/>
          <p:cNvSpPr txBox="1"/>
          <p:nvPr/>
        </p:nvSpPr>
        <p:spPr>
          <a:xfrm>
            <a:off x="6492240" y="4322802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C6E81"/>
                </a:solidFill>
                <a:latin typeface="Arial"/>
              </a:defRPr>
            </a:pPr>
            <a:r>
              <a:rPr sz="1600" dirty="0"/>
              <a:t>Published content is returned as structured JSON text.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13520" y="3048000"/>
            <a:ext cx="2514600" cy="231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3520" y="3048000"/>
            <a:ext cx="2514600" cy="91440"/>
          </a:xfrm>
          <a:prstGeom prst="rect">
            <a:avLst/>
          </a:prstGeom>
          <a:solidFill>
            <a:srgbClr val="25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: EXTEND"/>
          <p:cNvSpPr txBox="1"/>
          <p:nvPr/>
        </p:nvSpPr>
        <p:spPr>
          <a:xfrm>
            <a:off x="9326880" y="3351907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11820"/>
                </a:solidFill>
                <a:latin typeface="Arial"/>
              </a:defRPr>
            </a:pPr>
            <a:r>
              <a:t>EXTEND</a:t>
            </a:r>
          </a:p>
        </p:txBody>
      </p:sp>
      <p:sp>
        <p:nvSpPr>
          <p:cNvPr id="43" name="Text: annotation plugins"/>
          <p:cNvSpPr txBox="1"/>
          <p:nvPr/>
        </p:nvSpPr>
        <p:spPr>
          <a:xfrm>
            <a:off x="9326880" y="3694360"/>
            <a:ext cx="21336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5313D"/>
                </a:solidFill>
                <a:latin typeface="Arial"/>
              </a:defRPr>
            </a:pPr>
            <a:r>
              <a:rPr dirty="0"/>
              <a:t>annotation plugins</a:t>
            </a:r>
          </a:p>
        </p:txBody>
      </p:sp>
      <p:sp>
        <p:nvSpPr>
          <p:cNvPr id="44" name="Text: New functions are discovered throug"/>
          <p:cNvSpPr txBox="1"/>
          <p:nvPr/>
        </p:nvSpPr>
        <p:spPr>
          <a:xfrm>
            <a:off x="9364980" y="4303478"/>
            <a:ext cx="205740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C6E81"/>
                </a:solidFill>
                <a:latin typeface="Arial"/>
              </a:defRPr>
            </a:pPr>
            <a:r>
              <a:rPr sz="1600" dirty="0"/>
              <a:t>New functions are discovered through Drupal’s plugin system.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3880" y="5669280"/>
            <a:ext cx="11064240" cy="533400"/>
          </a:xfrm>
          <a:prstGeom prst="round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: PROOF POINT"/>
          <p:cNvSpPr txBox="1"/>
          <p:nvPr/>
        </p:nvSpPr>
        <p:spPr>
          <a:xfrm>
            <a:off x="777240" y="5828257"/>
            <a:ext cx="133985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5B123"/>
                </a:solidFill>
                <a:latin typeface="Arial"/>
              </a:defRPr>
            </a:pPr>
            <a:r>
              <a:rPr sz="1400" dirty="0"/>
              <a:t>PROOF POINT</a:t>
            </a:r>
          </a:p>
        </p:txBody>
      </p:sp>
      <p:sp>
        <p:nvSpPr>
          <p:cNvPr id="47" name="Text: A standard MCP client can discover "/>
          <p:cNvSpPr txBox="1"/>
          <p:nvPr/>
        </p:nvSpPr>
        <p:spPr>
          <a:xfrm>
            <a:off x="2218690" y="5828258"/>
            <a:ext cx="8839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A standard MCP client can discover and invoke Drupal functions without a repository-specific client.</a:t>
            </a:r>
          </a:p>
        </p:txBody>
      </p:sp>
      <p:sp>
        <p:nvSpPr>
          <p:cNvPr id="48" name="Text: 03"/>
          <p:cNvSpPr txBox="1"/>
          <p:nvPr/>
        </p:nvSpPr>
        <p:spPr>
          <a:xfrm>
            <a:off x="11125200" y="6483801"/>
            <a:ext cx="5029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3880" y="441960"/>
            <a:ext cx="76200" cy="43434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: 03 • ASSESSMENT"/>
          <p:cNvSpPr txBox="1"/>
          <p:nvPr/>
        </p:nvSpPr>
        <p:spPr>
          <a:xfrm>
            <a:off x="822960" y="433298"/>
            <a:ext cx="4953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A6A00"/>
                </a:solidFill>
                <a:latin typeface="Arial"/>
              </a:defRPr>
            </a:pPr>
            <a:r>
              <a:t>03 • ASSESSMENT</a:t>
            </a:r>
          </a:p>
        </p:txBody>
      </p:sp>
      <p:sp>
        <p:nvSpPr>
          <p:cNvPr id="4" name="Text: Readiness gaps"/>
          <p:cNvSpPr txBox="1"/>
          <p:nvPr/>
        </p:nvSpPr>
        <p:spPr>
          <a:xfrm>
            <a:off x="822960" y="637773"/>
            <a:ext cx="1028700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11820"/>
                </a:solidFill>
                <a:latin typeface="Arial"/>
              </a:defRPr>
            </a:pPr>
            <a:r>
              <a:t>Readiness gaps</a:t>
            </a:r>
          </a:p>
        </p:txBody>
      </p:sp>
      <p:sp>
        <p:nvSpPr>
          <p:cNvPr id="5" name="Text: The prototype is extensible; access"/>
          <p:cNvSpPr txBox="1"/>
          <p:nvPr/>
        </p:nvSpPr>
        <p:spPr>
          <a:xfrm>
            <a:off x="822960" y="1111329"/>
            <a:ext cx="10287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C6E81"/>
                </a:solidFill>
                <a:latin typeface="Arial"/>
              </a:defRPr>
            </a:pPr>
            <a:r>
              <a:t>The prototype is extensible; access, operations and retrieval depth are not yet production-ready.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80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3880" y="1676400"/>
            <a:ext cx="3444240" cy="106680"/>
          </a:xfrm>
          <a:prstGeom prst="rect">
            <a:avLst/>
          </a:prstGeom>
          <a:solidFill>
            <a:srgbClr val="9B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: ACCESS &amp; EXPOSURE"/>
          <p:cNvSpPr txBox="1"/>
          <p:nvPr/>
        </p:nvSpPr>
        <p:spPr>
          <a:xfrm>
            <a:off x="777240" y="1987852"/>
            <a:ext cx="2933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ACCESS &amp; EXPOSURE</a:t>
            </a:r>
          </a:p>
        </p:txBody>
      </p:sp>
      <p:sp>
        <p:nvSpPr>
          <p:cNvPr id="9" name="Oval 8"/>
          <p:cNvSpPr/>
          <p:nvPr/>
        </p:nvSpPr>
        <p:spPr>
          <a:xfrm>
            <a:off x="792480" y="2468880"/>
            <a:ext cx="91440" cy="91440"/>
          </a:xfrm>
          <a:prstGeom prst="ellipse">
            <a:avLst/>
          </a:prstGeom>
          <a:solidFill>
            <a:srgbClr val="9B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: Direct node/PDF reads do not enforc"/>
          <p:cNvSpPr txBox="1"/>
          <p:nvPr/>
        </p:nvSpPr>
        <p:spPr>
          <a:xfrm>
            <a:off x="990599" y="236773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Direct node/PDF reads do not enforce entity view access.</a:t>
            </a:r>
          </a:p>
        </p:txBody>
      </p:sp>
      <p:sp>
        <p:nvSpPr>
          <p:cNvPr id="11" name="Oval 10"/>
          <p:cNvSpPr/>
          <p:nvPr/>
        </p:nvSpPr>
        <p:spPr>
          <a:xfrm>
            <a:off x="792480" y="3185160"/>
            <a:ext cx="91440" cy="91440"/>
          </a:xfrm>
          <a:prstGeom prst="ellipse">
            <a:avLst/>
          </a:prstGeom>
          <a:solidFill>
            <a:srgbClr val="9B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: One route permission covers every c"/>
          <p:cNvSpPr txBox="1"/>
          <p:nvPr/>
        </p:nvSpPr>
        <p:spPr>
          <a:xfrm>
            <a:off x="990599" y="308401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One route permission covers every client and content type.</a:t>
            </a:r>
          </a:p>
        </p:txBody>
      </p:sp>
      <p:sp>
        <p:nvSpPr>
          <p:cNvPr id="13" name="Oval 12"/>
          <p:cNvSpPr/>
          <p:nvPr/>
        </p:nvSpPr>
        <p:spPr>
          <a:xfrm>
            <a:off x="792480" y="3901440"/>
            <a:ext cx="91440" cy="91440"/>
          </a:xfrm>
          <a:prstGeom prst="ellipse">
            <a:avLst/>
          </a:prstGeom>
          <a:solidFill>
            <a:srgbClr val="9B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: Wildcard origins and responses expo"/>
          <p:cNvSpPr txBox="1"/>
          <p:nvPr/>
        </p:nvSpPr>
        <p:spPr>
          <a:xfrm>
            <a:off x="990599" y="380029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Wildcard origins and responses expose email/file-path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6760" y="4648200"/>
            <a:ext cx="3078480" cy="579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: Risk: published but restricted cont"/>
          <p:cNvSpPr txBox="1"/>
          <p:nvPr/>
        </p:nvSpPr>
        <p:spPr>
          <a:xfrm>
            <a:off x="883920" y="4768483"/>
            <a:ext cx="27813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Risk: published but restricted content may be overexposed.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3880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3880" y="1676400"/>
            <a:ext cx="3444240" cy="10668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: RELIABILITY &amp; OPERATIONS"/>
          <p:cNvSpPr txBox="1"/>
          <p:nvPr/>
        </p:nvSpPr>
        <p:spPr>
          <a:xfrm>
            <a:off x="4587240" y="1987852"/>
            <a:ext cx="2933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RELIABILITY &amp; OPERATIONS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4602480" y="246888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: HTTP and stdio duplicate the protoc"/>
          <p:cNvSpPr txBox="1"/>
          <p:nvPr/>
        </p:nvSpPr>
        <p:spPr>
          <a:xfrm>
            <a:off x="4800600" y="236773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HTTP and stdio duplicate the protocol dispatcher.</a:t>
            </a:r>
          </a:p>
        </p:txBody>
      </p:sp>
      <p:sp>
        <p:nvSpPr>
          <p:cNvPr id="22" name="Oval 21"/>
          <p:cNvSpPr/>
          <p:nvPr/>
        </p:nvSpPr>
        <p:spPr>
          <a:xfrm>
            <a:off x="4602480" y="318516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: A faulty plugin can disrupt tool/re"/>
          <p:cNvSpPr txBox="1"/>
          <p:nvPr/>
        </p:nvSpPr>
        <p:spPr>
          <a:xfrm>
            <a:off x="4809490" y="308401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A faulty plugin can disrupt tool/resource discovery.</a:t>
            </a:r>
          </a:p>
        </p:txBody>
      </p:sp>
      <p:sp>
        <p:nvSpPr>
          <p:cNvPr id="24" name="Oval 23"/>
          <p:cNvSpPr/>
          <p:nvPr/>
        </p:nvSpPr>
        <p:spPr>
          <a:xfrm>
            <a:off x="4602480" y="390144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: Logging/templates are partial; no b"/>
          <p:cNvSpPr txBox="1"/>
          <p:nvPr/>
        </p:nvSpPr>
        <p:spPr>
          <a:xfrm>
            <a:off x="4800600" y="380029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/>
              <a:t>Logging/templates are partial; no behavioural test suite.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6760" y="4648200"/>
            <a:ext cx="3078480" cy="579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: Risk: maintenance drift and fragile"/>
          <p:cNvSpPr txBox="1"/>
          <p:nvPr/>
        </p:nvSpPr>
        <p:spPr>
          <a:xfrm>
            <a:off x="4693920" y="4768483"/>
            <a:ext cx="27813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rPr dirty="0"/>
              <a:t>Risk: maintenance drift and fragile client connections.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1676400"/>
            <a:ext cx="3444240" cy="106680"/>
          </a:xfrm>
          <a:prstGeom prst="rect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: RETRIEVAL QUALITY"/>
          <p:cNvSpPr txBox="1"/>
          <p:nvPr/>
        </p:nvSpPr>
        <p:spPr>
          <a:xfrm>
            <a:off x="8397240" y="1987852"/>
            <a:ext cx="2933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RETRIEVAL QUALITY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0" y="246888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: Search matches titles only; there i"/>
          <p:cNvSpPr txBox="1"/>
          <p:nvPr/>
        </p:nvSpPr>
        <p:spPr>
          <a:xfrm>
            <a:off x="8610600" y="236773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Search matches titles only; there is no ranking or semantic index.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0" y="318516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: PDF extraction returns one text-bas"/>
          <p:cNvSpPr txBox="1"/>
          <p:nvPr/>
        </p:nvSpPr>
        <p:spPr>
          <a:xfrm>
            <a:off x="8610600" y="308401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PDF extraction returns one text-based page at a time.</a:t>
            </a:r>
          </a:p>
        </p:txBody>
      </p:sp>
      <p:sp>
        <p:nvSpPr>
          <p:cNvPr id="35" name="Oval 34"/>
          <p:cNvSpPr/>
          <p:nvPr/>
        </p:nvSpPr>
        <p:spPr>
          <a:xfrm>
            <a:off x="8412480" y="390144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: No OCR, cached extraction or attach"/>
          <p:cNvSpPr txBox="1"/>
          <p:nvPr/>
        </p:nvSpPr>
        <p:spPr>
          <a:xfrm>
            <a:off x="8610600" y="380029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No OCR, cached extraction or attachment-level search.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4648200"/>
            <a:ext cx="3078480" cy="579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: Risk: the demo works, but evidence "/>
          <p:cNvSpPr txBox="1"/>
          <p:nvPr/>
        </p:nvSpPr>
        <p:spPr>
          <a:xfrm>
            <a:off x="8503920" y="4768483"/>
            <a:ext cx="27813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Risk: the demo works, but evidence coverage is narrow.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3880" y="5669280"/>
            <a:ext cx="11064240" cy="533400"/>
          </a:xfrm>
          <a:prstGeom prst="round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: READINESS"/>
          <p:cNvSpPr txBox="1"/>
          <p:nvPr/>
        </p:nvSpPr>
        <p:spPr>
          <a:xfrm>
            <a:off x="883920" y="5828258"/>
            <a:ext cx="12065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5B123"/>
                </a:solidFill>
                <a:latin typeface="Arial"/>
              </a:defRPr>
            </a:pPr>
            <a:r>
              <a:rPr sz="1400" dirty="0"/>
              <a:t>READINESS</a:t>
            </a:r>
          </a:p>
        </p:txBody>
      </p:sp>
      <p:sp>
        <p:nvSpPr>
          <p:cNvPr id="41" name="Text: Appropriate for controlled internal"/>
          <p:cNvSpPr txBox="1"/>
          <p:nvPr/>
        </p:nvSpPr>
        <p:spPr>
          <a:xfrm>
            <a:off x="2410460" y="5828258"/>
            <a:ext cx="85344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Appropriate for controlled internal testing only; access hardening is the release gate.</a:t>
            </a:r>
          </a:p>
        </p:txBody>
      </p:sp>
      <p:sp>
        <p:nvSpPr>
          <p:cNvPr id="42" name="Text: 04"/>
          <p:cNvSpPr txBox="1"/>
          <p:nvPr/>
        </p:nvSpPr>
        <p:spPr>
          <a:xfrm>
            <a:off x="11125200" y="6483801"/>
            <a:ext cx="5029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3880" y="441960"/>
            <a:ext cx="76200" cy="43434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: 04 • DELIVERY"/>
          <p:cNvSpPr txBox="1"/>
          <p:nvPr/>
        </p:nvSpPr>
        <p:spPr>
          <a:xfrm>
            <a:off x="822960" y="433298"/>
            <a:ext cx="4953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A6A00"/>
                </a:solidFill>
                <a:latin typeface="Arial"/>
              </a:defRPr>
            </a:pPr>
            <a:r>
              <a:t>04 • DELIVERY</a:t>
            </a:r>
          </a:p>
        </p:txBody>
      </p:sp>
      <p:sp>
        <p:nvSpPr>
          <p:cNvPr id="4" name="Text: Pilot blueprint"/>
          <p:cNvSpPr txBox="1"/>
          <p:nvPr/>
        </p:nvSpPr>
        <p:spPr>
          <a:xfrm>
            <a:off x="822960" y="637773"/>
            <a:ext cx="1028700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11820"/>
                </a:solidFill>
                <a:latin typeface="Arial"/>
              </a:defRPr>
            </a:pPr>
            <a:r>
              <a:t>Pilot blueprint</a:t>
            </a:r>
          </a:p>
        </p:txBody>
      </p:sp>
      <p:sp>
        <p:nvSpPr>
          <p:cNvPr id="5" name="Text: Sequence the work around secure acc"/>
          <p:cNvSpPr txBox="1"/>
          <p:nvPr/>
        </p:nvSpPr>
        <p:spPr>
          <a:xfrm>
            <a:off x="822960" y="1111329"/>
            <a:ext cx="10287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C6E81"/>
                </a:solidFill>
                <a:latin typeface="Arial"/>
              </a:defRPr>
            </a:pPr>
            <a:r>
              <a:rPr dirty="0"/>
              <a:t>Sequence the work around secure access, retrieval quality and operational assurance.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80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3880" y="1676400"/>
            <a:ext cx="3444240" cy="10668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981199"/>
            <a:ext cx="868680" cy="274320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: SPRINT 4"/>
          <p:cNvSpPr txBox="1"/>
          <p:nvPr/>
        </p:nvSpPr>
        <p:spPr>
          <a:xfrm>
            <a:off x="777240" y="2041415"/>
            <a:ext cx="8686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t>SPRINT 4</a:t>
            </a:r>
          </a:p>
        </p:txBody>
      </p:sp>
      <p:sp>
        <p:nvSpPr>
          <p:cNvPr id="10" name="Text: HARDEN ACCESS"/>
          <p:cNvSpPr txBox="1"/>
          <p:nvPr/>
        </p:nvSpPr>
        <p:spPr>
          <a:xfrm>
            <a:off x="777240" y="2467838"/>
            <a:ext cx="27813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HARDEN ACCESS</a:t>
            </a:r>
          </a:p>
        </p:txBody>
      </p:sp>
      <p:sp>
        <p:nvSpPr>
          <p:cNvPr id="11" name="Oval 10"/>
          <p:cNvSpPr/>
          <p:nvPr/>
        </p:nvSpPr>
        <p:spPr>
          <a:xfrm>
            <a:off x="792480" y="289560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: Share one dispatcher and response m"/>
          <p:cNvSpPr txBox="1"/>
          <p:nvPr/>
        </p:nvSpPr>
        <p:spPr>
          <a:xfrm>
            <a:off x="990599" y="282523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Share one dispatcher and response model across both transports.</a:t>
            </a:r>
          </a:p>
        </p:txBody>
      </p:sp>
      <p:sp>
        <p:nvSpPr>
          <p:cNvPr id="13" name="Oval 12"/>
          <p:cNvSpPr/>
          <p:nvPr/>
        </p:nvSpPr>
        <p:spPr>
          <a:xfrm>
            <a:off x="792480" y="348996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: Apply entity-level permissions and "/>
          <p:cNvSpPr txBox="1"/>
          <p:nvPr/>
        </p:nvSpPr>
        <p:spPr>
          <a:xfrm>
            <a:off x="990599" y="341959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Apply entity-level permissions and minimi</a:t>
            </a:r>
            <a:r>
              <a:rPr lang="en-US" sz="1200" dirty="0"/>
              <a:t>z</a:t>
            </a:r>
            <a:r>
              <a:rPr sz="1200" dirty="0"/>
              <a:t>e response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792480" y="408432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: Add origin controls, usage limits a"/>
          <p:cNvSpPr txBox="1"/>
          <p:nvPr/>
        </p:nvSpPr>
        <p:spPr>
          <a:xfrm>
            <a:off x="990599" y="401395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Add origin controls, usage limits and audit logging.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760" y="4663440"/>
            <a:ext cx="3078480" cy="5638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: SUCCESS"/>
          <p:cNvSpPr txBox="1"/>
          <p:nvPr/>
        </p:nvSpPr>
        <p:spPr>
          <a:xfrm>
            <a:off x="883920" y="4761830"/>
            <a:ext cx="6096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E5B123"/>
                </a:solidFill>
                <a:latin typeface="Arial"/>
              </a:defRPr>
            </a:pPr>
            <a:r>
              <a:t>SUCCESS</a:t>
            </a:r>
          </a:p>
        </p:txBody>
      </p:sp>
      <p:sp>
        <p:nvSpPr>
          <p:cNvPr id="19" name="Text: Unauthorised content is never retur"/>
          <p:cNvSpPr txBox="1"/>
          <p:nvPr/>
        </p:nvSpPr>
        <p:spPr>
          <a:xfrm>
            <a:off x="883920" y="497511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t>Unauthorised content is never returned.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3880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3880" y="1676400"/>
            <a:ext cx="3444240" cy="106680"/>
          </a:xfrm>
          <a:prstGeom prst="rect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87240" y="1981199"/>
            <a:ext cx="868680" cy="274320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: SPRINT 5"/>
          <p:cNvSpPr txBox="1"/>
          <p:nvPr/>
        </p:nvSpPr>
        <p:spPr>
          <a:xfrm>
            <a:off x="4587240" y="2041415"/>
            <a:ext cx="8686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rPr dirty="0"/>
              <a:t>SPRINT 5</a:t>
            </a:r>
          </a:p>
        </p:txBody>
      </p:sp>
      <p:sp>
        <p:nvSpPr>
          <p:cNvPr id="24" name="Text: IMPROVE RETRIEVAL"/>
          <p:cNvSpPr txBox="1"/>
          <p:nvPr/>
        </p:nvSpPr>
        <p:spPr>
          <a:xfrm>
            <a:off x="4587240" y="2467838"/>
            <a:ext cx="27813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IMPROVE RETRIEVAL</a:t>
            </a:r>
          </a:p>
        </p:txBody>
      </p:sp>
      <p:sp>
        <p:nvSpPr>
          <p:cNvPr id="25" name="Oval 24"/>
          <p:cNvSpPr/>
          <p:nvPr/>
        </p:nvSpPr>
        <p:spPr>
          <a:xfrm>
            <a:off x="4602480" y="289560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: Create a reusable extraction servic"/>
          <p:cNvSpPr txBox="1"/>
          <p:nvPr/>
        </p:nvSpPr>
        <p:spPr>
          <a:xfrm>
            <a:off x="4800600" y="282523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Create a reusable extraction service with OCR and caching.</a:t>
            </a:r>
          </a:p>
        </p:txBody>
      </p:sp>
      <p:sp>
        <p:nvSpPr>
          <p:cNvPr id="27" name="Oval 26"/>
          <p:cNvSpPr/>
          <p:nvPr/>
        </p:nvSpPr>
        <p:spPr>
          <a:xfrm>
            <a:off x="4602480" y="348996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: Establish a search baseline before "/>
          <p:cNvSpPr txBox="1"/>
          <p:nvPr/>
        </p:nvSpPr>
        <p:spPr>
          <a:xfrm>
            <a:off x="4800600" y="341959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Establish a search baseline before adding semantic retrieval.</a:t>
            </a:r>
          </a:p>
        </p:txBody>
      </p:sp>
      <p:sp>
        <p:nvSpPr>
          <p:cNvPr id="29" name="Oval 28"/>
          <p:cNvSpPr/>
          <p:nvPr/>
        </p:nvSpPr>
        <p:spPr>
          <a:xfrm>
            <a:off x="4602480" y="408432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: Return citation metadata and stable"/>
          <p:cNvSpPr txBox="1"/>
          <p:nvPr/>
        </p:nvSpPr>
        <p:spPr>
          <a:xfrm>
            <a:off x="4800600" y="401395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Return citation metadata and stable source links.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6760" y="4663440"/>
            <a:ext cx="3078480" cy="5638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: SUCCESS"/>
          <p:cNvSpPr txBox="1"/>
          <p:nvPr/>
        </p:nvSpPr>
        <p:spPr>
          <a:xfrm>
            <a:off x="4693920" y="4761830"/>
            <a:ext cx="6096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5C6E81"/>
                </a:solidFill>
                <a:latin typeface="Arial"/>
              </a:defRPr>
            </a:pPr>
            <a:r>
              <a:t>SUCCESS</a:t>
            </a:r>
          </a:p>
        </p:txBody>
      </p:sp>
      <p:sp>
        <p:nvSpPr>
          <p:cNvPr id="33" name="Text: Representative nodes and PDFs are r"/>
          <p:cNvSpPr txBox="1"/>
          <p:nvPr/>
        </p:nvSpPr>
        <p:spPr>
          <a:xfrm>
            <a:off x="4693920" y="497511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rPr lang="en-US" dirty="0"/>
              <a:t>R</a:t>
            </a:r>
            <a:r>
              <a:rPr dirty="0"/>
              <a:t>etrievabl</a:t>
            </a:r>
            <a:r>
              <a:rPr lang="en-US" dirty="0"/>
              <a:t>e nodes</a:t>
            </a:r>
            <a:r>
              <a:rPr dirty="0"/>
              <a:t> with provenance.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79" y="1676400"/>
            <a:ext cx="3444240" cy="106680"/>
          </a:xfrm>
          <a:prstGeom prst="rect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97240" y="1981199"/>
            <a:ext cx="868680" cy="274320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: SPRINT 6"/>
          <p:cNvSpPr txBox="1"/>
          <p:nvPr/>
        </p:nvSpPr>
        <p:spPr>
          <a:xfrm>
            <a:off x="8397240" y="2041415"/>
            <a:ext cx="8686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t>SPRINT 6</a:t>
            </a:r>
          </a:p>
        </p:txBody>
      </p:sp>
      <p:sp>
        <p:nvSpPr>
          <p:cNvPr id="38" name="Text: PROVE OPERATION"/>
          <p:cNvSpPr txBox="1"/>
          <p:nvPr/>
        </p:nvSpPr>
        <p:spPr>
          <a:xfrm>
            <a:off x="8397240" y="2467838"/>
            <a:ext cx="27813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PROVE OPERATION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895600"/>
            <a:ext cx="91440" cy="91440"/>
          </a:xfrm>
          <a:prstGeom prst="ellipse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: Test the same behaviours over HTTP "/>
          <p:cNvSpPr txBox="1"/>
          <p:nvPr/>
        </p:nvSpPr>
        <p:spPr>
          <a:xfrm>
            <a:off x="8610600" y="282523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Test the same behaviors over HTTP and command line.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3489960"/>
            <a:ext cx="91440" cy="91440"/>
          </a:xfrm>
          <a:prstGeom prst="ellipse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: Isolate plugin failures and make er"/>
          <p:cNvSpPr txBox="1"/>
          <p:nvPr/>
        </p:nvSpPr>
        <p:spPr>
          <a:xfrm>
            <a:off x="8610600" y="341959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Isolate plugin failures and make errors observable.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4084320"/>
            <a:ext cx="91440" cy="91440"/>
          </a:xfrm>
          <a:prstGeom prst="ellipse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: Deploy to the test site and complet"/>
          <p:cNvSpPr txBox="1"/>
          <p:nvPr/>
        </p:nvSpPr>
        <p:spPr>
          <a:xfrm>
            <a:off x="8610600" y="401395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Deploy to the test site and complete security review.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4663440"/>
            <a:ext cx="3078480" cy="5638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: SUCCESS"/>
          <p:cNvSpPr txBox="1"/>
          <p:nvPr/>
        </p:nvSpPr>
        <p:spPr>
          <a:xfrm>
            <a:off x="8503920" y="4761830"/>
            <a:ext cx="6096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2F6B57"/>
                </a:solidFill>
                <a:latin typeface="Arial"/>
              </a:defRPr>
            </a:pPr>
            <a:r>
              <a:t>SUCCESS</a:t>
            </a:r>
          </a:p>
        </p:txBody>
      </p:sp>
      <p:sp>
        <p:nvSpPr>
          <p:cNvPr id="47" name="Text: The demonstration is repeatable and"/>
          <p:cNvSpPr txBox="1"/>
          <p:nvPr/>
        </p:nvSpPr>
        <p:spPr>
          <a:xfrm>
            <a:off x="8503920" y="497511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rPr lang="en-US" dirty="0"/>
              <a:t>R</a:t>
            </a:r>
            <a:r>
              <a:rPr dirty="0"/>
              <a:t>epeatable </a:t>
            </a:r>
            <a:r>
              <a:rPr lang="en-US" dirty="0"/>
              <a:t>Demonstration</a:t>
            </a:r>
            <a:endParaRPr dirty="0"/>
          </a:p>
        </p:txBody>
      </p:sp>
      <p:sp>
        <p:nvSpPr>
          <p:cNvPr id="48" name="Rounded Rectangle 47"/>
          <p:cNvSpPr/>
          <p:nvPr/>
        </p:nvSpPr>
        <p:spPr>
          <a:xfrm>
            <a:off x="563880" y="5669280"/>
            <a:ext cx="11064240" cy="533400"/>
          </a:xfrm>
          <a:prstGeom prst="round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: FIRST DECISION"/>
          <p:cNvSpPr txBox="1"/>
          <p:nvPr/>
        </p:nvSpPr>
        <p:spPr>
          <a:xfrm>
            <a:off x="838200" y="5820638"/>
            <a:ext cx="15621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5B123"/>
                </a:solidFill>
                <a:latin typeface="Arial"/>
              </a:defRPr>
            </a:pPr>
            <a:r>
              <a:rPr sz="1400" dirty="0"/>
              <a:t>FIRST DECISION</a:t>
            </a:r>
          </a:p>
        </p:txBody>
      </p:sp>
      <p:sp>
        <p:nvSpPr>
          <p:cNvPr id="50" name="Text: Agree the pilot users and represent"/>
          <p:cNvSpPr txBox="1"/>
          <p:nvPr/>
        </p:nvSpPr>
        <p:spPr>
          <a:xfrm>
            <a:off x="2590800" y="5815720"/>
            <a:ext cx="85344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Agree the pilot users and representative content set before expanding search features.</a:t>
            </a:r>
          </a:p>
        </p:txBody>
      </p:sp>
      <p:sp>
        <p:nvSpPr>
          <p:cNvPr id="51" name="Text: 05"/>
          <p:cNvSpPr txBox="1"/>
          <p:nvPr/>
        </p:nvSpPr>
        <p:spPr>
          <a:xfrm>
            <a:off x="11125200" y="6483801"/>
            <a:ext cx="5029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576</Words>
  <Application>Microsoft Office PowerPoint</Application>
  <PresentationFormat>Widescreen</PresentationFormat>
  <Paragraphs>110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 Evidence Interface — Project Update</dc:title>
  <dc:subject>Project vision, Drupal MCP prototype proof, readiness assessment and pilot blueprint</dc:subject>
  <dc:creator>ANU TechLauncher Policy Evidence Interface Team</dc:creator>
  <cp:keywords>Drupal, MCP, policy evidence, AI, TechLauncher</cp:keywords>
  <dc:description>generated using python-pptx</dc:description>
  <cp:lastModifiedBy>Peter Wei</cp:lastModifiedBy>
  <cp:revision>3</cp:revision>
  <dcterms:created xsi:type="dcterms:W3CDTF">2013-01-27T09:14:16Z</dcterms:created>
  <dcterms:modified xsi:type="dcterms:W3CDTF">2026-07-31T06:43:57Z</dcterms:modified>
  <cp:category/>
</cp:coreProperties>
</file>