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7"/>
  </p:notesMasterIdLst>
  <p:sldIdLst>
    <p:sldId id="256" r:id="rId2"/>
    <p:sldId id="257" r:id="rId3"/>
    <p:sldId id="258" r:id="rId4"/>
    <p:sldId id="259" r:id="rId5"/>
    <p:sldId id="260" r:id="rId6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4786" autoAdjust="0"/>
    <p:restoredTop sz="95016" autoAdjust="0"/>
  </p:normalViewPr>
  <p:slideViewPr>
    <p:cSldViewPr snapToGrid="0" snapToObjects="1">
      <p:cViewPr varScale="1">
        <p:scale>
          <a:sx n="82" d="100"/>
          <a:sy n="82" d="100"/>
        </p:scale>
        <p:origin x="64" y="76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presProps" Target="presProps.xml"/><Relationship Id="rId3" Type="http://schemas.openxmlformats.org/officeDocument/2006/relationships/slide" Target="slides/slide2.xml"/><Relationship Id="rId7" Type="http://schemas.openxmlformats.org/officeDocument/2006/relationships/notesMaster" Target="notesMasters/notesMaster1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tableStyles" Target="tableStyles.xml"/><Relationship Id="rId5" Type="http://schemas.openxmlformats.org/officeDocument/2006/relationships/slide" Target="slides/slide4.xml"/><Relationship Id="rId10" Type="http://schemas.openxmlformats.org/officeDocument/2006/relationships/theme" Target="theme/theme1.xml"/><Relationship Id="rId4" Type="http://schemas.openxmlformats.org/officeDocument/2006/relationships/slide" Target="slides/slide3.xml"/><Relationship Id="rId9" Type="http://schemas.openxmlformats.org/officeDocument/2006/relationships/viewProps" Target="view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7A5F3FBB-FAF7-471D-BB5F-F693C5F1AC93}" type="datetimeFigureOut">
              <a:rPr lang="en-US" smtClean="0"/>
              <a:t>31-Jul-26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5AF535F0-512F-4360-A388-3AB3A597B11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021090900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5AF535F0-512F-4360-A388-3AB3A597B11C}" type="slidenum">
              <a:rPr lang="en-US" smtClean="0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63327933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31-Jul-26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31-Jul-26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31-Jul-26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31-Jul-26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31-Jul-26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31-Jul-26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31-Jul-26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31-Jul-26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31-Jul-26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31-Jul-26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31-Jul-26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31-Jul-26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1182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82880" cy="6858000"/>
          </a:xfrm>
          <a:prstGeom prst="rect">
            <a:avLst/>
          </a:prstGeom>
          <a:solidFill>
            <a:srgbClr val="E5B12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: TECHNICAL PROJECT UPDATE"/>
          <p:cNvSpPr txBox="1"/>
          <p:nvPr/>
        </p:nvSpPr>
        <p:spPr>
          <a:xfrm>
            <a:off x="762000" y="722858"/>
            <a:ext cx="4572000" cy="215444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spcAft>
                <a:spcPts val="0"/>
              </a:spcAft>
              <a:defRPr sz="1400" b="1">
                <a:solidFill>
                  <a:srgbClr val="E5B123"/>
                </a:solidFill>
                <a:latin typeface="Arial"/>
              </a:defRPr>
            </a:pPr>
            <a:r>
              <a:t>TECHNICAL PROJECT UPDATE</a:t>
            </a:r>
          </a:p>
        </p:txBody>
      </p:sp>
      <p:sp>
        <p:nvSpPr>
          <p:cNvPr id="4" name="Text: Policy Evidence&#10;Interface"/>
          <p:cNvSpPr txBox="1"/>
          <p:nvPr/>
        </p:nvSpPr>
        <p:spPr>
          <a:xfrm>
            <a:off x="762000" y="2028141"/>
            <a:ext cx="6248400" cy="1323439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spcAft>
                <a:spcPts val="0"/>
              </a:spcAft>
              <a:defRPr sz="4300" b="1">
                <a:solidFill>
                  <a:srgbClr val="FFFFFF"/>
                </a:solidFill>
                <a:latin typeface="Arial"/>
              </a:defRPr>
            </a:pPr>
            <a:r>
              <a:rPr dirty="0"/>
              <a:t>Policy Evidence</a:t>
            </a:r>
            <a:br>
              <a:rPr dirty="0"/>
            </a:br>
            <a:r>
              <a:rPr dirty="0"/>
              <a:t>Interface</a:t>
            </a:r>
          </a:p>
        </p:txBody>
      </p:sp>
      <p:sp>
        <p:nvSpPr>
          <p:cNvPr id="5" name="Rectangle 4"/>
          <p:cNvSpPr/>
          <p:nvPr/>
        </p:nvSpPr>
        <p:spPr>
          <a:xfrm>
            <a:off x="777240" y="3581400"/>
            <a:ext cx="1889760" cy="60960"/>
          </a:xfrm>
          <a:prstGeom prst="rect">
            <a:avLst/>
          </a:prstGeom>
          <a:solidFill>
            <a:srgbClr val="E5B12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: A controlled AI interface for Drupa"/>
          <p:cNvSpPr txBox="1"/>
          <p:nvPr/>
        </p:nvSpPr>
        <p:spPr>
          <a:xfrm>
            <a:off x="762000" y="4090525"/>
            <a:ext cx="6019800" cy="292388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spcAft>
                <a:spcPts val="0"/>
              </a:spcAft>
              <a:defRPr sz="1900" b="0">
                <a:solidFill>
                  <a:srgbClr val="D5DDE2"/>
                </a:solidFill>
                <a:latin typeface="Arial"/>
              </a:defRPr>
            </a:pPr>
            <a:r>
              <a:t>A controlled AI interface for Drupal policy evidence</a:t>
            </a:r>
          </a:p>
        </p:txBody>
      </p:sp>
      <p:sp>
        <p:nvSpPr>
          <p:cNvPr id="7" name="Text: ANU TechLauncher  •  31 July 2026"/>
          <p:cNvSpPr txBox="1"/>
          <p:nvPr/>
        </p:nvSpPr>
        <p:spPr>
          <a:xfrm>
            <a:off x="762000" y="6026601"/>
            <a:ext cx="3810000" cy="169277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spcAft>
                <a:spcPts val="0"/>
              </a:spcAft>
              <a:defRPr sz="1100" b="0">
                <a:solidFill>
                  <a:srgbClr val="89949D"/>
                </a:solidFill>
                <a:latin typeface="Arial"/>
              </a:defRPr>
            </a:pPr>
            <a:r>
              <a:t>ANU TechLauncher  •  31 July 2026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7467599" y="853440"/>
            <a:ext cx="3901440" cy="4739640"/>
          </a:xfrm>
          <a:prstGeom prst="roundRect">
            <a:avLst/>
          </a:prstGeom>
          <a:solidFill>
            <a:srgbClr val="1B2731"/>
          </a:solidFill>
          <a:ln w="12700">
            <a:solidFill>
              <a:srgbClr val="35445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Text: PROJECT TEAM"/>
          <p:cNvSpPr txBox="1"/>
          <p:nvPr/>
        </p:nvSpPr>
        <p:spPr>
          <a:xfrm>
            <a:off x="7772400" y="1164967"/>
            <a:ext cx="2286000" cy="184666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spcAft>
                <a:spcPts val="0"/>
              </a:spcAft>
              <a:defRPr sz="1200" b="1">
                <a:solidFill>
                  <a:srgbClr val="E5B123"/>
                </a:solidFill>
                <a:latin typeface="Arial"/>
              </a:defRPr>
            </a:pPr>
            <a:r>
              <a:t>PROJECT TEAM</a:t>
            </a:r>
          </a:p>
        </p:txBody>
      </p:sp>
      <p:sp>
        <p:nvSpPr>
          <p:cNvPr id="10" name="Text: Harry Baard"/>
          <p:cNvSpPr txBox="1"/>
          <p:nvPr/>
        </p:nvSpPr>
        <p:spPr>
          <a:xfrm>
            <a:off x="7772400" y="1524000"/>
            <a:ext cx="2971800" cy="21336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spcAft>
                <a:spcPts val="0"/>
              </a:spcAft>
              <a:defRPr sz="1400" b="1">
                <a:solidFill>
                  <a:srgbClr val="FFFFFF"/>
                </a:solidFill>
                <a:latin typeface="Arial"/>
              </a:defRPr>
            </a:pPr>
            <a:r>
              <a:t>Harry Baard</a:t>
            </a:r>
          </a:p>
        </p:txBody>
      </p:sp>
      <p:sp>
        <p:nvSpPr>
          <p:cNvPr id="11" name="Text: Amogh Agarwal"/>
          <p:cNvSpPr txBox="1"/>
          <p:nvPr/>
        </p:nvSpPr>
        <p:spPr>
          <a:xfrm>
            <a:off x="7772400" y="1844040"/>
            <a:ext cx="2971800" cy="21336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spcAft>
                <a:spcPts val="0"/>
              </a:spcAft>
              <a:defRPr sz="1400" b="1">
                <a:solidFill>
                  <a:srgbClr val="FFFFFF"/>
                </a:solidFill>
                <a:latin typeface="Arial"/>
              </a:defRPr>
            </a:pPr>
            <a:r>
              <a:t>Amogh Agarwal</a:t>
            </a:r>
          </a:p>
        </p:txBody>
      </p:sp>
      <p:sp>
        <p:nvSpPr>
          <p:cNvPr id="12" name="Text: Peter Wei"/>
          <p:cNvSpPr txBox="1"/>
          <p:nvPr/>
        </p:nvSpPr>
        <p:spPr>
          <a:xfrm>
            <a:off x="7772400" y="2164080"/>
            <a:ext cx="2971800" cy="21336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spcAft>
                <a:spcPts val="0"/>
              </a:spcAft>
              <a:defRPr sz="1400" b="1">
                <a:solidFill>
                  <a:srgbClr val="FFFFFF"/>
                </a:solidFill>
                <a:latin typeface="Arial"/>
              </a:defRPr>
            </a:pPr>
            <a:r>
              <a:t>Peter Wei</a:t>
            </a:r>
          </a:p>
        </p:txBody>
      </p:sp>
      <p:sp>
        <p:nvSpPr>
          <p:cNvPr id="13" name="Text: Qiyue Zhang"/>
          <p:cNvSpPr txBox="1"/>
          <p:nvPr/>
        </p:nvSpPr>
        <p:spPr>
          <a:xfrm>
            <a:off x="7772400" y="2484120"/>
            <a:ext cx="2971800" cy="21336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spcAft>
                <a:spcPts val="0"/>
              </a:spcAft>
              <a:defRPr sz="1400" b="1">
                <a:solidFill>
                  <a:srgbClr val="FFFFFF"/>
                </a:solidFill>
                <a:latin typeface="Arial"/>
              </a:defRPr>
            </a:pPr>
            <a:r>
              <a:t>Qiyue Zhang</a:t>
            </a:r>
          </a:p>
        </p:txBody>
      </p:sp>
      <p:sp>
        <p:nvSpPr>
          <p:cNvPr id="14" name="Text: Shiyun Yao"/>
          <p:cNvSpPr txBox="1"/>
          <p:nvPr/>
        </p:nvSpPr>
        <p:spPr>
          <a:xfrm>
            <a:off x="7772400" y="2804160"/>
            <a:ext cx="2971800" cy="21336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spcAft>
                <a:spcPts val="0"/>
              </a:spcAft>
              <a:defRPr sz="1400" b="1">
                <a:solidFill>
                  <a:srgbClr val="FFFFFF"/>
                </a:solidFill>
                <a:latin typeface="Arial"/>
              </a:defRPr>
            </a:pPr>
            <a:r>
              <a:t>Shiyun Yao</a:t>
            </a:r>
          </a:p>
        </p:txBody>
      </p:sp>
      <p:sp>
        <p:nvSpPr>
          <p:cNvPr id="15" name="Rectangle 14"/>
          <p:cNvSpPr/>
          <p:nvPr/>
        </p:nvSpPr>
        <p:spPr>
          <a:xfrm>
            <a:off x="7772400" y="3291840"/>
            <a:ext cx="3291840" cy="15240"/>
          </a:xfrm>
          <a:prstGeom prst="rect">
            <a:avLst/>
          </a:prstGeom>
          <a:solidFill>
            <a:srgbClr val="42515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Text: CURRENT TUTOR"/>
          <p:cNvSpPr txBox="1"/>
          <p:nvPr/>
        </p:nvSpPr>
        <p:spPr>
          <a:xfrm>
            <a:off x="7772400" y="3566160"/>
            <a:ext cx="1676400" cy="153888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spcAft>
                <a:spcPts val="0"/>
              </a:spcAft>
              <a:defRPr sz="1000" b="1">
                <a:solidFill>
                  <a:srgbClr val="E5B123"/>
                </a:solidFill>
                <a:latin typeface="Arial"/>
              </a:defRPr>
            </a:pPr>
            <a:r>
              <a:rPr dirty="0"/>
              <a:t>TUTOR</a:t>
            </a:r>
          </a:p>
        </p:txBody>
      </p:sp>
      <p:sp>
        <p:nvSpPr>
          <p:cNvPr id="17" name="Text: Zara Hassan"/>
          <p:cNvSpPr txBox="1"/>
          <p:nvPr/>
        </p:nvSpPr>
        <p:spPr>
          <a:xfrm>
            <a:off x="7772400" y="3810000"/>
            <a:ext cx="2286000" cy="200055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spcAft>
                <a:spcPts val="0"/>
              </a:spcAft>
              <a:defRPr sz="1300" b="0">
                <a:solidFill>
                  <a:srgbClr val="D4DCE1"/>
                </a:solidFill>
                <a:latin typeface="Arial"/>
              </a:defRPr>
            </a:pPr>
            <a:r>
              <a:rPr lang="en-US" dirty="0"/>
              <a:t>Dr. </a:t>
            </a:r>
            <a:r>
              <a:rPr dirty="0"/>
              <a:t>Zara Hassan</a:t>
            </a:r>
          </a:p>
        </p:txBody>
      </p:sp>
      <p:sp>
        <p:nvSpPr>
          <p:cNvPr id="18" name="Text: CLIENT"/>
          <p:cNvSpPr txBox="1"/>
          <p:nvPr/>
        </p:nvSpPr>
        <p:spPr>
          <a:xfrm>
            <a:off x="7772400" y="4266456"/>
            <a:ext cx="1371600" cy="153888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spcAft>
                <a:spcPts val="0"/>
              </a:spcAft>
              <a:defRPr sz="1000" b="1">
                <a:solidFill>
                  <a:srgbClr val="E5B123"/>
                </a:solidFill>
                <a:latin typeface="Arial"/>
              </a:defRPr>
            </a:pPr>
            <a:r>
              <a:t>CLIENT</a:t>
            </a:r>
          </a:p>
        </p:txBody>
      </p:sp>
      <p:sp>
        <p:nvSpPr>
          <p:cNvPr id="19" name="Text: Dr. Harry Rolf"/>
          <p:cNvSpPr txBox="1"/>
          <p:nvPr/>
        </p:nvSpPr>
        <p:spPr>
          <a:xfrm>
            <a:off x="7772400" y="4495800"/>
            <a:ext cx="2286000" cy="200055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spcAft>
                <a:spcPts val="0"/>
              </a:spcAft>
              <a:defRPr sz="1300" b="0">
                <a:solidFill>
                  <a:srgbClr val="D4DCE1"/>
                </a:solidFill>
                <a:latin typeface="Arial"/>
              </a:defRPr>
            </a:pPr>
            <a:r>
              <a:rPr dirty="0"/>
              <a:t>Dr. Harry Rolf</a:t>
            </a:r>
            <a:r>
              <a:rPr lang="en-US" dirty="0"/>
              <a:t> @ShapePolicy</a:t>
            </a:r>
            <a:endParaRPr dirty="0"/>
          </a:p>
        </p:txBody>
      </p:sp>
      <p:sp>
        <p:nvSpPr>
          <p:cNvPr id="21" name="Text: 01"/>
          <p:cNvSpPr txBox="1"/>
          <p:nvPr/>
        </p:nvSpPr>
        <p:spPr>
          <a:xfrm>
            <a:off x="11125200" y="6026601"/>
            <a:ext cx="381000" cy="169277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r">
              <a:spcAft>
                <a:spcPts val="0"/>
              </a:spcAft>
              <a:defRPr sz="1100" b="1">
                <a:solidFill>
                  <a:srgbClr val="E5B123"/>
                </a:solidFill>
                <a:latin typeface="Arial"/>
              </a:defRPr>
            </a:pPr>
            <a:r>
              <a:t>01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CFBF7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563880" y="441960"/>
            <a:ext cx="76200" cy="434340"/>
          </a:xfrm>
          <a:prstGeom prst="rect">
            <a:avLst/>
          </a:prstGeom>
          <a:solidFill>
            <a:srgbClr val="E5B12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: 01 • VISION"/>
          <p:cNvSpPr txBox="1"/>
          <p:nvPr/>
        </p:nvSpPr>
        <p:spPr>
          <a:xfrm>
            <a:off x="822960" y="433298"/>
            <a:ext cx="4953000" cy="215444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spcAft>
                <a:spcPts val="0"/>
              </a:spcAft>
              <a:defRPr sz="1400" b="1">
                <a:solidFill>
                  <a:srgbClr val="9A6A00"/>
                </a:solidFill>
                <a:latin typeface="Arial"/>
              </a:defRPr>
            </a:pPr>
            <a:r>
              <a:t>01 • VISION</a:t>
            </a:r>
          </a:p>
        </p:txBody>
      </p:sp>
      <p:sp>
        <p:nvSpPr>
          <p:cNvPr id="4" name="Text: Design intent"/>
          <p:cNvSpPr txBox="1"/>
          <p:nvPr/>
        </p:nvSpPr>
        <p:spPr>
          <a:xfrm>
            <a:off x="822960" y="637773"/>
            <a:ext cx="10287000" cy="477054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spcAft>
                <a:spcPts val="0"/>
              </a:spcAft>
              <a:defRPr sz="3100" b="1">
                <a:solidFill>
                  <a:srgbClr val="111820"/>
                </a:solidFill>
                <a:latin typeface="Arial"/>
              </a:defRPr>
            </a:pPr>
            <a:r>
              <a:t>Design intent</a:t>
            </a:r>
          </a:p>
        </p:txBody>
      </p:sp>
      <p:sp>
        <p:nvSpPr>
          <p:cNvPr id="5" name="Text: A controlled machine interface for "/>
          <p:cNvSpPr txBox="1"/>
          <p:nvPr/>
        </p:nvSpPr>
        <p:spPr>
          <a:xfrm>
            <a:off x="822960" y="1111329"/>
            <a:ext cx="10287000" cy="246221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spcAft>
                <a:spcPts val="0"/>
              </a:spcAft>
              <a:defRPr sz="1600" b="0">
                <a:solidFill>
                  <a:srgbClr val="5C6E81"/>
                </a:solidFill>
                <a:latin typeface="Arial"/>
              </a:defRPr>
            </a:pPr>
            <a:r>
              <a:rPr dirty="0"/>
              <a:t>A controlled machine interface for curated policy evidence.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563880" y="1676400"/>
            <a:ext cx="3779520" cy="3703320"/>
          </a:xfrm>
          <a:prstGeom prst="roundRect">
            <a:avLst/>
          </a:prstGeom>
          <a:solidFill>
            <a:srgbClr val="11182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: THE TENSION"/>
          <p:cNvSpPr txBox="1"/>
          <p:nvPr/>
        </p:nvSpPr>
        <p:spPr>
          <a:xfrm>
            <a:off x="853440" y="1987926"/>
            <a:ext cx="1828800" cy="184666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spcAft>
                <a:spcPts val="0"/>
              </a:spcAft>
              <a:defRPr sz="1200" b="1">
                <a:solidFill>
                  <a:srgbClr val="E5B123"/>
                </a:solidFill>
                <a:latin typeface="Arial"/>
              </a:defRPr>
            </a:pPr>
            <a:r>
              <a:t>THE TENSION</a:t>
            </a:r>
          </a:p>
        </p:txBody>
      </p:sp>
      <p:sp>
        <p:nvSpPr>
          <p:cNvPr id="8" name="Text: AI needs fast,&#10;direct access."/>
          <p:cNvSpPr txBox="1"/>
          <p:nvPr/>
        </p:nvSpPr>
        <p:spPr>
          <a:xfrm>
            <a:off x="853440" y="2358926"/>
            <a:ext cx="3048000" cy="677108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spcAft>
                <a:spcPts val="0"/>
              </a:spcAft>
              <a:defRPr sz="2200" b="1">
                <a:solidFill>
                  <a:srgbClr val="FFFFFF"/>
                </a:solidFill>
                <a:latin typeface="Arial"/>
              </a:defRPr>
            </a:pPr>
            <a:r>
              <a:rPr dirty="0"/>
              <a:t>AI needs fast,</a:t>
            </a:r>
            <a:br>
              <a:rPr dirty="0"/>
            </a:br>
            <a:r>
              <a:rPr dirty="0"/>
              <a:t>direct access.</a:t>
            </a:r>
          </a:p>
        </p:txBody>
      </p:sp>
      <p:sp>
        <p:nvSpPr>
          <p:cNvPr id="9" name="Text: Evidence needs&#10;provenance, p"/>
          <p:cNvSpPr txBox="1"/>
          <p:nvPr/>
        </p:nvSpPr>
        <p:spPr>
          <a:xfrm>
            <a:off x="815340" y="3669967"/>
            <a:ext cx="3124200" cy="1015663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spcAft>
                <a:spcPts val="0"/>
              </a:spcAft>
              <a:defRPr sz="2200" b="1">
                <a:solidFill>
                  <a:srgbClr val="FFFFFF"/>
                </a:solidFill>
                <a:latin typeface="Arial"/>
              </a:defRPr>
            </a:pPr>
            <a:r>
              <a:rPr dirty="0"/>
              <a:t>Evidence needs</a:t>
            </a:r>
            <a:br>
              <a:rPr dirty="0"/>
            </a:br>
            <a:r>
              <a:rPr dirty="0"/>
              <a:t>permissions</a:t>
            </a:r>
            <a:r>
              <a:rPr lang="en-US" dirty="0"/>
              <a:t> </a:t>
            </a:r>
            <a:r>
              <a:rPr dirty="0"/>
              <a:t>and </a:t>
            </a:r>
            <a:r>
              <a:rPr lang="en-US" dirty="0"/>
              <a:t>reliable </a:t>
            </a:r>
            <a:r>
              <a:rPr dirty="0"/>
              <a:t>context.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4724400" y="1676400"/>
            <a:ext cx="6903720" cy="100584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1DAD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Oval 11"/>
          <p:cNvSpPr/>
          <p:nvPr/>
        </p:nvSpPr>
        <p:spPr>
          <a:xfrm>
            <a:off x="4937760" y="1927860"/>
            <a:ext cx="502920" cy="502920"/>
          </a:xfrm>
          <a:prstGeom prst="ellipse">
            <a:avLst/>
          </a:prstGeom>
          <a:solidFill>
            <a:srgbClr val="E5B12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Text: 1"/>
          <p:cNvSpPr txBox="1"/>
          <p:nvPr/>
        </p:nvSpPr>
        <p:spPr>
          <a:xfrm>
            <a:off x="4937760" y="2048515"/>
            <a:ext cx="502920" cy="26161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>
              <a:spcAft>
                <a:spcPts val="0"/>
              </a:spcAft>
              <a:defRPr sz="1700" b="1">
                <a:solidFill>
                  <a:srgbClr val="111820"/>
                </a:solidFill>
                <a:latin typeface="Arial"/>
              </a:defRPr>
            </a:pPr>
            <a:r>
              <a:t>1</a:t>
            </a:r>
          </a:p>
        </p:txBody>
      </p:sp>
      <p:sp>
        <p:nvSpPr>
          <p:cNvPr id="14" name="Text: GROUNDED"/>
          <p:cNvSpPr txBox="1"/>
          <p:nvPr/>
        </p:nvSpPr>
        <p:spPr>
          <a:xfrm>
            <a:off x="5654040" y="1881097"/>
            <a:ext cx="1905000" cy="215444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spcAft>
                <a:spcPts val="0"/>
              </a:spcAft>
              <a:defRPr sz="1400" b="1">
                <a:solidFill>
                  <a:srgbClr val="111820"/>
                </a:solidFill>
                <a:latin typeface="Arial"/>
              </a:defRPr>
            </a:pPr>
            <a:r>
              <a:t>GROUNDED</a:t>
            </a:r>
          </a:p>
        </p:txBody>
      </p:sp>
      <p:sp>
        <p:nvSpPr>
          <p:cNvPr id="15" name="Text: Answers begin with published Drupal"/>
          <p:cNvSpPr txBox="1"/>
          <p:nvPr/>
        </p:nvSpPr>
        <p:spPr>
          <a:xfrm>
            <a:off x="5654040" y="2246932"/>
            <a:ext cx="5600700" cy="200055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spcAft>
                <a:spcPts val="0"/>
              </a:spcAft>
              <a:defRPr sz="1300" b="0">
                <a:solidFill>
                  <a:srgbClr val="5C6E81"/>
                </a:solidFill>
                <a:latin typeface="Arial"/>
              </a:defRPr>
            </a:pPr>
            <a:r>
              <a:t>Answers begin with published Drupal content and retain source links.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4724400" y="2880360"/>
            <a:ext cx="6903720" cy="100584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1DAD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" name="Oval 16"/>
          <p:cNvSpPr/>
          <p:nvPr/>
        </p:nvSpPr>
        <p:spPr>
          <a:xfrm>
            <a:off x="4937760" y="3131820"/>
            <a:ext cx="502920" cy="502920"/>
          </a:xfrm>
          <a:prstGeom prst="ellipse">
            <a:avLst/>
          </a:prstGeom>
          <a:solidFill>
            <a:srgbClr val="5C6E8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8" name="Text: 2"/>
          <p:cNvSpPr txBox="1"/>
          <p:nvPr/>
        </p:nvSpPr>
        <p:spPr>
          <a:xfrm>
            <a:off x="4937760" y="3252475"/>
            <a:ext cx="502920" cy="26161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>
              <a:spcAft>
                <a:spcPts val="0"/>
              </a:spcAft>
              <a:defRPr sz="1700" b="1">
                <a:solidFill>
                  <a:srgbClr val="FFFFFF"/>
                </a:solidFill>
                <a:latin typeface="Arial"/>
              </a:defRPr>
            </a:pPr>
            <a:r>
              <a:t>2</a:t>
            </a:r>
          </a:p>
        </p:txBody>
      </p:sp>
      <p:sp>
        <p:nvSpPr>
          <p:cNvPr id="19" name="Text: GOVERNED"/>
          <p:cNvSpPr txBox="1"/>
          <p:nvPr/>
        </p:nvSpPr>
        <p:spPr>
          <a:xfrm>
            <a:off x="5654040" y="3085058"/>
            <a:ext cx="1905000" cy="215444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spcAft>
                <a:spcPts val="0"/>
              </a:spcAft>
              <a:defRPr sz="1400" b="1">
                <a:solidFill>
                  <a:srgbClr val="111820"/>
                </a:solidFill>
                <a:latin typeface="Arial"/>
              </a:defRPr>
            </a:pPr>
            <a:r>
              <a:t>GOVERNED</a:t>
            </a:r>
          </a:p>
        </p:txBody>
      </p:sp>
      <p:sp>
        <p:nvSpPr>
          <p:cNvPr id="20" name="Text: Access and future licensing rules r"/>
          <p:cNvSpPr txBox="1"/>
          <p:nvPr/>
        </p:nvSpPr>
        <p:spPr>
          <a:xfrm>
            <a:off x="5654040" y="3450892"/>
            <a:ext cx="5600700" cy="200055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spcAft>
                <a:spcPts val="0"/>
              </a:spcAft>
              <a:defRPr sz="1300" b="0">
                <a:solidFill>
                  <a:srgbClr val="5C6E81"/>
                </a:solidFill>
                <a:latin typeface="Arial"/>
              </a:defRPr>
            </a:pPr>
            <a:r>
              <a:t>Access and future licensing rules remain under repository control.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4724400" y="4084320"/>
            <a:ext cx="6903720" cy="100584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1DAD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2" name="Oval 21"/>
          <p:cNvSpPr/>
          <p:nvPr/>
        </p:nvSpPr>
        <p:spPr>
          <a:xfrm>
            <a:off x="4937760" y="4335780"/>
            <a:ext cx="502920" cy="502920"/>
          </a:xfrm>
          <a:prstGeom prst="ellipse">
            <a:avLst/>
          </a:prstGeom>
          <a:solidFill>
            <a:srgbClr val="2F6B5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3" name="Text: 3"/>
          <p:cNvSpPr txBox="1"/>
          <p:nvPr/>
        </p:nvSpPr>
        <p:spPr>
          <a:xfrm>
            <a:off x="4937760" y="4456435"/>
            <a:ext cx="502920" cy="26161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>
              <a:spcAft>
                <a:spcPts val="0"/>
              </a:spcAft>
              <a:defRPr sz="1700" b="1">
                <a:solidFill>
                  <a:srgbClr val="FFFFFF"/>
                </a:solidFill>
                <a:latin typeface="Arial"/>
              </a:defRPr>
            </a:pPr>
            <a:r>
              <a:t>3</a:t>
            </a:r>
          </a:p>
        </p:txBody>
      </p:sp>
      <p:sp>
        <p:nvSpPr>
          <p:cNvPr id="24" name="Text: EXTENSIBLE"/>
          <p:cNvSpPr txBox="1"/>
          <p:nvPr/>
        </p:nvSpPr>
        <p:spPr>
          <a:xfrm>
            <a:off x="5654040" y="4289018"/>
            <a:ext cx="1905000" cy="215444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spcAft>
                <a:spcPts val="0"/>
              </a:spcAft>
              <a:defRPr sz="1400" b="1">
                <a:solidFill>
                  <a:srgbClr val="111820"/>
                </a:solidFill>
                <a:latin typeface="Arial"/>
              </a:defRPr>
            </a:pPr>
            <a:r>
              <a:t>EXTENSIBLE</a:t>
            </a:r>
          </a:p>
        </p:txBody>
      </p:sp>
      <p:sp>
        <p:nvSpPr>
          <p:cNvPr id="25" name="Text: New retrieval functions can be adde"/>
          <p:cNvSpPr txBox="1"/>
          <p:nvPr/>
        </p:nvSpPr>
        <p:spPr>
          <a:xfrm>
            <a:off x="5654040" y="4654852"/>
            <a:ext cx="5600700" cy="200055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spcAft>
                <a:spcPts val="0"/>
              </a:spcAft>
              <a:defRPr sz="1300" b="0">
                <a:solidFill>
                  <a:srgbClr val="5C6E81"/>
                </a:solidFill>
                <a:latin typeface="Arial"/>
              </a:defRPr>
            </a:pPr>
            <a:r>
              <a:t>New retrieval functions can be added through Drupal plugins.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563880" y="5669280"/>
            <a:ext cx="11064240" cy="533400"/>
          </a:xfrm>
          <a:prstGeom prst="roundRect">
            <a:avLst/>
          </a:prstGeom>
          <a:solidFill>
            <a:srgbClr val="F1E7C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7" name="Text: DESIGN PRINCIPLE"/>
          <p:cNvSpPr txBox="1"/>
          <p:nvPr/>
        </p:nvSpPr>
        <p:spPr>
          <a:xfrm>
            <a:off x="788329" y="5828258"/>
            <a:ext cx="1708245" cy="215444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spcAft>
                <a:spcPts val="0"/>
              </a:spcAft>
              <a:defRPr sz="1100" b="1">
                <a:solidFill>
                  <a:srgbClr val="9A6A00"/>
                </a:solidFill>
                <a:latin typeface="Arial"/>
              </a:defRPr>
            </a:pPr>
            <a:r>
              <a:rPr sz="1400" dirty="0"/>
              <a:t>DESIGN PRINCIPLE</a:t>
            </a:r>
          </a:p>
        </p:txBody>
      </p:sp>
      <p:sp>
        <p:nvSpPr>
          <p:cNvPr id="28" name="Text: Drupal remains the source of truth;"/>
          <p:cNvSpPr txBox="1"/>
          <p:nvPr/>
        </p:nvSpPr>
        <p:spPr>
          <a:xfrm>
            <a:off x="2721022" y="5828258"/>
            <a:ext cx="8534400" cy="215444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spcAft>
                <a:spcPts val="0"/>
              </a:spcAft>
              <a:defRPr sz="1400" b="1">
                <a:solidFill>
                  <a:srgbClr val="111820"/>
                </a:solidFill>
                <a:latin typeface="Arial"/>
              </a:defRPr>
            </a:pPr>
            <a:r>
              <a:rPr dirty="0"/>
              <a:t>Drupal remains the source of truth; MCP is the access layer, not a replacement repository.</a:t>
            </a:r>
          </a:p>
        </p:txBody>
      </p:sp>
      <p:sp>
        <p:nvSpPr>
          <p:cNvPr id="29" name="Text: 02"/>
          <p:cNvSpPr txBox="1"/>
          <p:nvPr/>
        </p:nvSpPr>
        <p:spPr>
          <a:xfrm>
            <a:off x="11125200" y="6483801"/>
            <a:ext cx="502920" cy="169277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r">
              <a:spcAft>
                <a:spcPts val="0"/>
              </a:spcAft>
              <a:defRPr sz="1100" b="1">
                <a:solidFill>
                  <a:srgbClr val="111820"/>
                </a:solidFill>
                <a:latin typeface="Arial"/>
              </a:defRPr>
            </a:pPr>
            <a:r>
              <a:t>02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CFBF7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563880" y="441960"/>
            <a:ext cx="76200" cy="434340"/>
          </a:xfrm>
          <a:prstGeom prst="rect">
            <a:avLst/>
          </a:prstGeom>
          <a:solidFill>
            <a:srgbClr val="E5B12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: 02 • PROTOTYPE"/>
          <p:cNvSpPr txBox="1"/>
          <p:nvPr/>
        </p:nvSpPr>
        <p:spPr>
          <a:xfrm>
            <a:off x="822960" y="433298"/>
            <a:ext cx="4953000" cy="215444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spcAft>
                <a:spcPts val="0"/>
              </a:spcAft>
              <a:defRPr sz="1400" b="1">
                <a:solidFill>
                  <a:srgbClr val="9A6A00"/>
                </a:solidFill>
                <a:latin typeface="Arial"/>
              </a:defRPr>
            </a:pPr>
            <a:r>
              <a:t>02 • PROTOTYPE</a:t>
            </a:r>
          </a:p>
        </p:txBody>
      </p:sp>
      <p:sp>
        <p:nvSpPr>
          <p:cNvPr id="4" name="Text: Prototype proof"/>
          <p:cNvSpPr txBox="1"/>
          <p:nvPr/>
        </p:nvSpPr>
        <p:spPr>
          <a:xfrm>
            <a:off x="822960" y="637773"/>
            <a:ext cx="10287000" cy="477054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spcAft>
                <a:spcPts val="0"/>
              </a:spcAft>
              <a:defRPr sz="3100" b="1">
                <a:solidFill>
                  <a:srgbClr val="111820"/>
                </a:solidFill>
                <a:latin typeface="Arial"/>
              </a:defRPr>
            </a:pPr>
            <a:r>
              <a:t>Prototype proof</a:t>
            </a:r>
          </a:p>
        </p:txBody>
      </p:sp>
      <p:sp>
        <p:nvSpPr>
          <p:cNvPr id="5" name="Text: What the current code demonstrates "/>
          <p:cNvSpPr txBox="1"/>
          <p:nvPr/>
        </p:nvSpPr>
        <p:spPr>
          <a:xfrm>
            <a:off x="822960" y="1111329"/>
            <a:ext cx="10287000" cy="246221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spcAft>
                <a:spcPts val="0"/>
              </a:spcAft>
              <a:defRPr sz="1600" b="0">
                <a:solidFill>
                  <a:srgbClr val="5C6E81"/>
                </a:solidFill>
                <a:latin typeface="Arial"/>
              </a:defRPr>
            </a:pPr>
            <a:r>
              <a:t>What the current code demonstrates end to end.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563880" y="1676400"/>
            <a:ext cx="1752600" cy="92964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C9D2D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: AI CLIENT"/>
          <p:cNvSpPr txBox="1"/>
          <p:nvPr/>
        </p:nvSpPr>
        <p:spPr>
          <a:xfrm>
            <a:off x="640080" y="1881172"/>
            <a:ext cx="1600200" cy="200055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>
              <a:spcAft>
                <a:spcPts val="0"/>
              </a:spcAft>
              <a:defRPr sz="1300" b="1">
                <a:solidFill>
                  <a:srgbClr val="111820"/>
                </a:solidFill>
                <a:latin typeface="Arial"/>
              </a:defRPr>
            </a:pPr>
            <a:r>
              <a:rPr dirty="0"/>
              <a:t>AI CLIENT</a:t>
            </a:r>
          </a:p>
        </p:txBody>
      </p:sp>
      <p:sp>
        <p:nvSpPr>
          <p:cNvPr id="8" name="Text: MCP request"/>
          <p:cNvSpPr txBox="1"/>
          <p:nvPr/>
        </p:nvSpPr>
        <p:spPr>
          <a:xfrm>
            <a:off x="640080" y="2231841"/>
            <a:ext cx="1600200" cy="169277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>
              <a:spcAft>
                <a:spcPts val="0"/>
              </a:spcAft>
              <a:defRPr sz="1100" b="0">
                <a:solidFill>
                  <a:srgbClr val="5C6E81"/>
                </a:solidFill>
                <a:latin typeface="Arial"/>
              </a:defRPr>
            </a:pPr>
            <a:r>
              <a:t>MCP request</a:t>
            </a:r>
          </a:p>
        </p:txBody>
      </p:sp>
      <p:sp>
        <p:nvSpPr>
          <p:cNvPr id="9" name="Right Arrow 8"/>
          <p:cNvSpPr/>
          <p:nvPr/>
        </p:nvSpPr>
        <p:spPr>
          <a:xfrm>
            <a:off x="2392680" y="2049780"/>
            <a:ext cx="182880" cy="182880"/>
          </a:xfrm>
          <a:prstGeom prst="rightArrow">
            <a:avLst/>
          </a:prstGeom>
          <a:solidFill>
            <a:srgbClr val="9A6A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Rounded Rectangle 9"/>
          <p:cNvSpPr/>
          <p:nvPr/>
        </p:nvSpPr>
        <p:spPr>
          <a:xfrm>
            <a:off x="2651760" y="1676400"/>
            <a:ext cx="1905000" cy="92964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C9D2D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Text: TRANSPORT"/>
          <p:cNvSpPr txBox="1"/>
          <p:nvPr/>
        </p:nvSpPr>
        <p:spPr>
          <a:xfrm>
            <a:off x="2727960" y="1881172"/>
            <a:ext cx="1752600" cy="200055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>
              <a:spcAft>
                <a:spcPts val="0"/>
              </a:spcAft>
              <a:defRPr sz="1300" b="1">
                <a:solidFill>
                  <a:srgbClr val="111820"/>
                </a:solidFill>
                <a:latin typeface="Arial"/>
              </a:defRPr>
            </a:pPr>
            <a:r>
              <a:t>TRANSPORT</a:t>
            </a:r>
          </a:p>
        </p:txBody>
      </p:sp>
      <p:sp>
        <p:nvSpPr>
          <p:cNvPr id="12" name="Text: HTTP or stdio"/>
          <p:cNvSpPr txBox="1"/>
          <p:nvPr/>
        </p:nvSpPr>
        <p:spPr>
          <a:xfrm>
            <a:off x="2727960" y="2231841"/>
            <a:ext cx="1752600" cy="169277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>
              <a:spcAft>
                <a:spcPts val="0"/>
              </a:spcAft>
              <a:defRPr sz="1100" b="0">
                <a:solidFill>
                  <a:srgbClr val="5C6E81"/>
                </a:solidFill>
                <a:latin typeface="Arial"/>
              </a:defRPr>
            </a:pPr>
            <a:r>
              <a:t>HTTP or stdio</a:t>
            </a:r>
          </a:p>
        </p:txBody>
      </p:sp>
      <p:sp>
        <p:nvSpPr>
          <p:cNvPr id="13" name="Right Arrow 12"/>
          <p:cNvSpPr/>
          <p:nvPr/>
        </p:nvSpPr>
        <p:spPr>
          <a:xfrm>
            <a:off x="4632960" y="2049780"/>
            <a:ext cx="182880" cy="182880"/>
          </a:xfrm>
          <a:prstGeom prst="rightArrow">
            <a:avLst/>
          </a:prstGeom>
          <a:solidFill>
            <a:srgbClr val="9A6A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Rounded Rectangle 13"/>
          <p:cNvSpPr/>
          <p:nvPr/>
        </p:nvSpPr>
        <p:spPr>
          <a:xfrm>
            <a:off x="4892040" y="1676400"/>
            <a:ext cx="1981199" cy="929640"/>
          </a:xfrm>
          <a:prstGeom prst="roundRect">
            <a:avLst/>
          </a:prstGeom>
          <a:solidFill>
            <a:srgbClr val="11182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Text: DISPATCH"/>
          <p:cNvSpPr txBox="1"/>
          <p:nvPr/>
        </p:nvSpPr>
        <p:spPr>
          <a:xfrm>
            <a:off x="4968240" y="1881172"/>
            <a:ext cx="1828800" cy="200055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>
              <a:spcAft>
                <a:spcPts val="0"/>
              </a:spcAft>
              <a:defRPr sz="1300" b="1">
                <a:solidFill>
                  <a:srgbClr val="E5B123"/>
                </a:solidFill>
                <a:latin typeface="Arial"/>
              </a:defRPr>
            </a:pPr>
            <a:r>
              <a:t>DISPATCH</a:t>
            </a:r>
          </a:p>
        </p:txBody>
      </p:sp>
      <p:sp>
        <p:nvSpPr>
          <p:cNvPr id="16" name="Text: JSON-RPC methods"/>
          <p:cNvSpPr txBox="1"/>
          <p:nvPr/>
        </p:nvSpPr>
        <p:spPr>
          <a:xfrm>
            <a:off x="4968240" y="2231841"/>
            <a:ext cx="1828800" cy="169277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>
              <a:spcAft>
                <a:spcPts val="0"/>
              </a:spcAft>
              <a:defRPr sz="1100" b="0">
                <a:solidFill>
                  <a:srgbClr val="FFFFFF"/>
                </a:solidFill>
                <a:latin typeface="Arial"/>
              </a:defRPr>
            </a:pPr>
            <a:r>
              <a:t>JSON-RPC methods</a:t>
            </a:r>
          </a:p>
        </p:txBody>
      </p:sp>
      <p:sp>
        <p:nvSpPr>
          <p:cNvPr id="17" name="Right Arrow 16"/>
          <p:cNvSpPr/>
          <p:nvPr/>
        </p:nvSpPr>
        <p:spPr>
          <a:xfrm>
            <a:off x="6949440" y="2049780"/>
            <a:ext cx="182880" cy="182880"/>
          </a:xfrm>
          <a:prstGeom prst="rightArrow">
            <a:avLst/>
          </a:prstGeom>
          <a:solidFill>
            <a:srgbClr val="9A6A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8" name="Rounded Rectangle 17"/>
          <p:cNvSpPr/>
          <p:nvPr/>
        </p:nvSpPr>
        <p:spPr>
          <a:xfrm>
            <a:off x="7208520" y="1676400"/>
            <a:ext cx="1981199" cy="92964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C9D2D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9" name="Text: PLUGIN LAYER"/>
          <p:cNvSpPr txBox="1"/>
          <p:nvPr/>
        </p:nvSpPr>
        <p:spPr>
          <a:xfrm>
            <a:off x="7284720" y="1881172"/>
            <a:ext cx="1828800" cy="200055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>
              <a:spcAft>
                <a:spcPts val="0"/>
              </a:spcAft>
              <a:defRPr sz="1300" b="1">
                <a:solidFill>
                  <a:srgbClr val="111820"/>
                </a:solidFill>
                <a:latin typeface="Arial"/>
              </a:defRPr>
            </a:pPr>
            <a:r>
              <a:t>PLUGIN LAYER</a:t>
            </a:r>
          </a:p>
        </p:txBody>
      </p:sp>
      <p:sp>
        <p:nvSpPr>
          <p:cNvPr id="20" name="Text: tools + resources"/>
          <p:cNvSpPr txBox="1"/>
          <p:nvPr/>
        </p:nvSpPr>
        <p:spPr>
          <a:xfrm>
            <a:off x="7284720" y="2231841"/>
            <a:ext cx="1828800" cy="169277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>
              <a:spcAft>
                <a:spcPts val="0"/>
              </a:spcAft>
              <a:defRPr sz="1100" b="0">
                <a:solidFill>
                  <a:srgbClr val="5C6E81"/>
                </a:solidFill>
                <a:latin typeface="Arial"/>
              </a:defRPr>
            </a:pPr>
            <a:r>
              <a:t>tools + resources</a:t>
            </a:r>
          </a:p>
        </p:txBody>
      </p:sp>
      <p:sp>
        <p:nvSpPr>
          <p:cNvPr id="21" name="Right Arrow 20"/>
          <p:cNvSpPr/>
          <p:nvPr/>
        </p:nvSpPr>
        <p:spPr>
          <a:xfrm>
            <a:off x="9265920" y="2049780"/>
            <a:ext cx="182880" cy="182880"/>
          </a:xfrm>
          <a:prstGeom prst="rightArrow">
            <a:avLst/>
          </a:prstGeom>
          <a:solidFill>
            <a:srgbClr val="9A6A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2" name="Rounded Rectangle 21"/>
          <p:cNvSpPr/>
          <p:nvPr/>
        </p:nvSpPr>
        <p:spPr>
          <a:xfrm>
            <a:off x="9525000" y="1676400"/>
            <a:ext cx="2103120" cy="92964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C9D2D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3" name="Text: DRUPAL DATA"/>
          <p:cNvSpPr txBox="1"/>
          <p:nvPr/>
        </p:nvSpPr>
        <p:spPr>
          <a:xfrm>
            <a:off x="9601200" y="1881172"/>
            <a:ext cx="1950720" cy="200055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>
              <a:spcAft>
                <a:spcPts val="0"/>
              </a:spcAft>
              <a:defRPr sz="1300" b="1">
                <a:solidFill>
                  <a:srgbClr val="111820"/>
                </a:solidFill>
                <a:latin typeface="Arial"/>
              </a:defRPr>
            </a:pPr>
            <a:r>
              <a:t>DRUPAL DATA</a:t>
            </a:r>
          </a:p>
        </p:txBody>
      </p:sp>
      <p:sp>
        <p:nvSpPr>
          <p:cNvPr id="24" name="Text: nodes + PDFs"/>
          <p:cNvSpPr txBox="1"/>
          <p:nvPr/>
        </p:nvSpPr>
        <p:spPr>
          <a:xfrm>
            <a:off x="9601200" y="2231841"/>
            <a:ext cx="1950720" cy="169277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>
              <a:spcAft>
                <a:spcPts val="0"/>
              </a:spcAft>
              <a:defRPr sz="1100" b="0">
                <a:solidFill>
                  <a:srgbClr val="5C6E81"/>
                </a:solidFill>
                <a:latin typeface="Arial"/>
              </a:defRPr>
            </a:pPr>
            <a:r>
              <a:t>nodes + PDFs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563880" y="3048000"/>
            <a:ext cx="2514600" cy="231648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1DAD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6" name="Rectangle 25"/>
          <p:cNvSpPr/>
          <p:nvPr/>
        </p:nvSpPr>
        <p:spPr>
          <a:xfrm>
            <a:off x="563880" y="3048000"/>
            <a:ext cx="2514600" cy="91440"/>
          </a:xfrm>
          <a:prstGeom prst="rect">
            <a:avLst/>
          </a:prstGeom>
          <a:solidFill>
            <a:srgbClr val="E5B12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7" name="Text: CONNECT"/>
          <p:cNvSpPr txBox="1"/>
          <p:nvPr/>
        </p:nvSpPr>
        <p:spPr>
          <a:xfrm>
            <a:off x="777240" y="3351907"/>
            <a:ext cx="1905000" cy="184666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spcAft>
                <a:spcPts val="0"/>
              </a:spcAft>
              <a:defRPr sz="1200" b="1">
                <a:solidFill>
                  <a:srgbClr val="111820"/>
                </a:solidFill>
                <a:latin typeface="Arial"/>
              </a:defRPr>
            </a:pPr>
            <a:r>
              <a:rPr dirty="0"/>
              <a:t>CONNECT</a:t>
            </a:r>
          </a:p>
        </p:txBody>
      </p:sp>
      <p:sp>
        <p:nvSpPr>
          <p:cNvPr id="28" name="Text: 2 transports"/>
          <p:cNvSpPr txBox="1"/>
          <p:nvPr/>
        </p:nvSpPr>
        <p:spPr>
          <a:xfrm>
            <a:off x="777240" y="3694360"/>
            <a:ext cx="2133600" cy="276999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spcAft>
                <a:spcPts val="0"/>
              </a:spcAft>
              <a:defRPr sz="1800" b="1">
                <a:solidFill>
                  <a:srgbClr val="E5B123"/>
                </a:solidFill>
                <a:latin typeface="Arial"/>
              </a:defRPr>
            </a:pPr>
            <a:r>
              <a:rPr dirty="0"/>
              <a:t>2 transports</a:t>
            </a:r>
          </a:p>
        </p:txBody>
      </p:sp>
      <p:sp>
        <p:nvSpPr>
          <p:cNvPr id="29" name="Text: Browser/server clients and local co"/>
          <p:cNvSpPr txBox="1"/>
          <p:nvPr/>
        </p:nvSpPr>
        <p:spPr>
          <a:xfrm>
            <a:off x="788670" y="4303478"/>
            <a:ext cx="2057400" cy="738664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spcAft>
                <a:spcPts val="0"/>
              </a:spcAft>
              <a:defRPr sz="1200" b="0">
                <a:solidFill>
                  <a:srgbClr val="5C6E81"/>
                </a:solidFill>
                <a:latin typeface="Arial"/>
              </a:defRPr>
            </a:pPr>
            <a:r>
              <a:rPr sz="1600" dirty="0"/>
              <a:t>Browser/server clients and local command-line clients.</a:t>
            </a:r>
          </a:p>
        </p:txBody>
      </p:sp>
      <p:sp>
        <p:nvSpPr>
          <p:cNvPr id="30" name="Rounded Rectangle 29"/>
          <p:cNvSpPr/>
          <p:nvPr/>
        </p:nvSpPr>
        <p:spPr>
          <a:xfrm>
            <a:off x="3413760" y="3048000"/>
            <a:ext cx="2514600" cy="231648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1DAD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1" name="Rectangle 30"/>
          <p:cNvSpPr/>
          <p:nvPr/>
        </p:nvSpPr>
        <p:spPr>
          <a:xfrm>
            <a:off x="3413760" y="3048000"/>
            <a:ext cx="2514600" cy="91440"/>
          </a:xfrm>
          <a:prstGeom prst="rect">
            <a:avLst/>
          </a:prstGeom>
          <a:solidFill>
            <a:srgbClr val="5C6E8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2" name="Text: DISCOVER"/>
          <p:cNvSpPr txBox="1"/>
          <p:nvPr/>
        </p:nvSpPr>
        <p:spPr>
          <a:xfrm>
            <a:off x="3627120" y="3351907"/>
            <a:ext cx="1905000" cy="184666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spcAft>
                <a:spcPts val="0"/>
              </a:spcAft>
              <a:defRPr sz="1200" b="1">
                <a:solidFill>
                  <a:srgbClr val="111820"/>
                </a:solidFill>
                <a:latin typeface="Arial"/>
              </a:defRPr>
            </a:pPr>
            <a:r>
              <a:t>DISCOVER</a:t>
            </a:r>
          </a:p>
        </p:txBody>
      </p:sp>
      <p:sp>
        <p:nvSpPr>
          <p:cNvPr id="33" name="Text: 5 tools • 3 resources"/>
          <p:cNvSpPr txBox="1"/>
          <p:nvPr/>
        </p:nvSpPr>
        <p:spPr>
          <a:xfrm>
            <a:off x="3627120" y="3672840"/>
            <a:ext cx="2301240" cy="276999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spcAft>
                <a:spcPts val="0"/>
              </a:spcAft>
              <a:defRPr sz="1800" b="1">
                <a:solidFill>
                  <a:srgbClr val="5C6E81"/>
                </a:solidFill>
                <a:latin typeface="Arial"/>
              </a:defRPr>
            </a:pPr>
            <a:r>
              <a:rPr dirty="0"/>
              <a:t>5 tools</a:t>
            </a:r>
          </a:p>
        </p:txBody>
      </p:sp>
      <p:sp>
        <p:nvSpPr>
          <p:cNvPr id="34" name="Text: Clients can list capabilities befor"/>
          <p:cNvSpPr txBox="1"/>
          <p:nvPr/>
        </p:nvSpPr>
        <p:spPr>
          <a:xfrm>
            <a:off x="3695700" y="4322802"/>
            <a:ext cx="2057400" cy="738664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spcAft>
                <a:spcPts val="0"/>
              </a:spcAft>
              <a:defRPr sz="1200" b="0">
                <a:solidFill>
                  <a:srgbClr val="5C6E81"/>
                </a:solidFill>
                <a:latin typeface="Arial"/>
              </a:defRPr>
            </a:pPr>
            <a:r>
              <a:rPr sz="1600" dirty="0"/>
              <a:t>Clients can list capabilities before calling them.</a:t>
            </a:r>
          </a:p>
        </p:txBody>
      </p:sp>
      <p:sp>
        <p:nvSpPr>
          <p:cNvPr id="35" name="Rounded Rectangle 34"/>
          <p:cNvSpPr/>
          <p:nvPr/>
        </p:nvSpPr>
        <p:spPr>
          <a:xfrm>
            <a:off x="6263640" y="3048000"/>
            <a:ext cx="2514600" cy="231648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1DAD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6" name="Rectangle 35"/>
          <p:cNvSpPr/>
          <p:nvPr/>
        </p:nvSpPr>
        <p:spPr>
          <a:xfrm>
            <a:off x="6263640" y="3048000"/>
            <a:ext cx="2514600" cy="91440"/>
          </a:xfrm>
          <a:prstGeom prst="rect">
            <a:avLst/>
          </a:prstGeom>
          <a:solidFill>
            <a:srgbClr val="2F6B5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7" name="Text: RETRIEVE"/>
          <p:cNvSpPr txBox="1"/>
          <p:nvPr/>
        </p:nvSpPr>
        <p:spPr>
          <a:xfrm>
            <a:off x="6477000" y="3351907"/>
            <a:ext cx="1905000" cy="184666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spcAft>
                <a:spcPts val="0"/>
              </a:spcAft>
              <a:defRPr sz="1200" b="1">
                <a:solidFill>
                  <a:srgbClr val="111820"/>
                </a:solidFill>
                <a:latin typeface="Arial"/>
              </a:defRPr>
            </a:pPr>
            <a:r>
              <a:t>RETRIEVE</a:t>
            </a:r>
          </a:p>
        </p:txBody>
      </p:sp>
      <p:sp>
        <p:nvSpPr>
          <p:cNvPr id="38" name="Text: nodes • fields • PDF page"/>
          <p:cNvSpPr txBox="1"/>
          <p:nvPr/>
        </p:nvSpPr>
        <p:spPr>
          <a:xfrm>
            <a:off x="6477000" y="3672840"/>
            <a:ext cx="2301240" cy="276999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spcAft>
                <a:spcPts val="0"/>
              </a:spcAft>
              <a:defRPr sz="1800" b="1">
                <a:solidFill>
                  <a:srgbClr val="2F6B57"/>
                </a:solidFill>
                <a:latin typeface="Arial"/>
              </a:defRPr>
            </a:pPr>
            <a:r>
              <a:rPr dirty="0"/>
              <a:t>nodes • fields • page</a:t>
            </a:r>
          </a:p>
        </p:txBody>
      </p:sp>
      <p:sp>
        <p:nvSpPr>
          <p:cNvPr id="39" name="Text: Published content is returned as st"/>
          <p:cNvSpPr txBox="1"/>
          <p:nvPr/>
        </p:nvSpPr>
        <p:spPr>
          <a:xfrm>
            <a:off x="6492240" y="4322802"/>
            <a:ext cx="2057400" cy="738664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spcAft>
                <a:spcPts val="0"/>
              </a:spcAft>
              <a:defRPr sz="1200" b="0">
                <a:solidFill>
                  <a:srgbClr val="5C6E81"/>
                </a:solidFill>
                <a:latin typeface="Arial"/>
              </a:defRPr>
            </a:pPr>
            <a:r>
              <a:rPr sz="1600" dirty="0"/>
              <a:t>Published content is returned as structured JSON text.</a:t>
            </a:r>
          </a:p>
        </p:txBody>
      </p:sp>
      <p:sp>
        <p:nvSpPr>
          <p:cNvPr id="40" name="Rounded Rectangle 39"/>
          <p:cNvSpPr/>
          <p:nvPr/>
        </p:nvSpPr>
        <p:spPr>
          <a:xfrm>
            <a:off x="9113520" y="3048000"/>
            <a:ext cx="2514600" cy="231648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1DAD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1" name="Rectangle 40"/>
          <p:cNvSpPr/>
          <p:nvPr/>
        </p:nvSpPr>
        <p:spPr>
          <a:xfrm>
            <a:off x="9113520" y="3048000"/>
            <a:ext cx="2514600" cy="91440"/>
          </a:xfrm>
          <a:prstGeom prst="rect">
            <a:avLst/>
          </a:prstGeom>
          <a:solidFill>
            <a:srgbClr val="25313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2" name="Text: EXTEND"/>
          <p:cNvSpPr txBox="1"/>
          <p:nvPr/>
        </p:nvSpPr>
        <p:spPr>
          <a:xfrm>
            <a:off x="9326880" y="3351907"/>
            <a:ext cx="1905000" cy="184666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spcAft>
                <a:spcPts val="0"/>
              </a:spcAft>
              <a:defRPr sz="1200" b="1">
                <a:solidFill>
                  <a:srgbClr val="111820"/>
                </a:solidFill>
                <a:latin typeface="Arial"/>
              </a:defRPr>
            </a:pPr>
            <a:r>
              <a:rPr dirty="0"/>
              <a:t>EXTEND</a:t>
            </a:r>
          </a:p>
        </p:txBody>
      </p:sp>
      <p:sp>
        <p:nvSpPr>
          <p:cNvPr id="43" name="Text: annotation plugins"/>
          <p:cNvSpPr txBox="1"/>
          <p:nvPr/>
        </p:nvSpPr>
        <p:spPr>
          <a:xfrm>
            <a:off x="9326880" y="3694360"/>
            <a:ext cx="2133600" cy="276999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spcAft>
                <a:spcPts val="0"/>
              </a:spcAft>
              <a:defRPr sz="1800" b="1">
                <a:solidFill>
                  <a:srgbClr val="25313D"/>
                </a:solidFill>
                <a:latin typeface="Arial"/>
              </a:defRPr>
            </a:pPr>
            <a:r>
              <a:rPr dirty="0"/>
              <a:t>annotation plugins</a:t>
            </a:r>
          </a:p>
        </p:txBody>
      </p:sp>
      <p:sp>
        <p:nvSpPr>
          <p:cNvPr id="44" name="Text: New functions are discovered throug"/>
          <p:cNvSpPr txBox="1"/>
          <p:nvPr/>
        </p:nvSpPr>
        <p:spPr>
          <a:xfrm>
            <a:off x="9364980" y="4260335"/>
            <a:ext cx="2057400" cy="984885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spcAft>
                <a:spcPts val="0"/>
              </a:spcAft>
              <a:defRPr sz="1200" b="0">
                <a:solidFill>
                  <a:srgbClr val="5C6E81"/>
                </a:solidFill>
                <a:latin typeface="Arial"/>
              </a:defRPr>
            </a:pPr>
            <a:r>
              <a:rPr sz="1600" dirty="0"/>
              <a:t>New functions are discovered through Drupal’s plugin system.</a:t>
            </a:r>
          </a:p>
        </p:txBody>
      </p:sp>
      <p:sp>
        <p:nvSpPr>
          <p:cNvPr id="45" name="Rounded Rectangle 44"/>
          <p:cNvSpPr/>
          <p:nvPr/>
        </p:nvSpPr>
        <p:spPr>
          <a:xfrm>
            <a:off x="563880" y="5669280"/>
            <a:ext cx="11064240" cy="533400"/>
          </a:xfrm>
          <a:prstGeom prst="roundRect">
            <a:avLst/>
          </a:prstGeom>
          <a:solidFill>
            <a:srgbClr val="11182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6" name="Text: PROOF POINT"/>
          <p:cNvSpPr txBox="1"/>
          <p:nvPr/>
        </p:nvSpPr>
        <p:spPr>
          <a:xfrm>
            <a:off x="777240" y="5828257"/>
            <a:ext cx="1339850" cy="215444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spcAft>
                <a:spcPts val="0"/>
              </a:spcAft>
              <a:defRPr sz="1100" b="1">
                <a:solidFill>
                  <a:srgbClr val="E5B123"/>
                </a:solidFill>
                <a:latin typeface="Arial"/>
              </a:defRPr>
            </a:pPr>
            <a:r>
              <a:rPr sz="1400" dirty="0"/>
              <a:t>PROOF POINT</a:t>
            </a:r>
          </a:p>
        </p:txBody>
      </p:sp>
      <p:sp>
        <p:nvSpPr>
          <p:cNvPr id="47" name="Text: A standard MCP client can discover "/>
          <p:cNvSpPr txBox="1"/>
          <p:nvPr/>
        </p:nvSpPr>
        <p:spPr>
          <a:xfrm>
            <a:off x="2218690" y="5828258"/>
            <a:ext cx="8839200" cy="215444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spcAft>
                <a:spcPts val="0"/>
              </a:spcAft>
              <a:defRPr sz="1400" b="1">
                <a:solidFill>
                  <a:srgbClr val="FFFFFF"/>
                </a:solidFill>
                <a:latin typeface="Arial"/>
              </a:defRPr>
            </a:pPr>
            <a:r>
              <a:rPr dirty="0"/>
              <a:t>A standard MCP client can discover and invoke Drupal functions without a repository-specific client.</a:t>
            </a:r>
          </a:p>
        </p:txBody>
      </p:sp>
      <p:sp>
        <p:nvSpPr>
          <p:cNvPr id="48" name="Text: 03"/>
          <p:cNvSpPr txBox="1"/>
          <p:nvPr/>
        </p:nvSpPr>
        <p:spPr>
          <a:xfrm>
            <a:off x="11125200" y="6483801"/>
            <a:ext cx="502920" cy="169277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r">
              <a:spcAft>
                <a:spcPts val="0"/>
              </a:spcAft>
              <a:defRPr sz="1100" b="1">
                <a:solidFill>
                  <a:srgbClr val="111820"/>
                </a:solidFill>
                <a:latin typeface="Arial"/>
              </a:defRPr>
            </a:pPr>
            <a:r>
              <a:t>03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CFBF7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563880" y="441960"/>
            <a:ext cx="76200" cy="434340"/>
          </a:xfrm>
          <a:prstGeom prst="rect">
            <a:avLst/>
          </a:prstGeom>
          <a:solidFill>
            <a:srgbClr val="E5B12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: 03 • ASSESSMENT"/>
          <p:cNvSpPr txBox="1"/>
          <p:nvPr/>
        </p:nvSpPr>
        <p:spPr>
          <a:xfrm>
            <a:off x="822960" y="433298"/>
            <a:ext cx="4953000" cy="215444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spcAft>
                <a:spcPts val="0"/>
              </a:spcAft>
              <a:defRPr sz="1400" b="1">
                <a:solidFill>
                  <a:srgbClr val="9A6A00"/>
                </a:solidFill>
                <a:latin typeface="Arial"/>
              </a:defRPr>
            </a:pPr>
            <a:r>
              <a:t>03 • ASSESSMENT</a:t>
            </a:r>
          </a:p>
        </p:txBody>
      </p:sp>
      <p:sp>
        <p:nvSpPr>
          <p:cNvPr id="4" name="Text: Readiness gaps"/>
          <p:cNvSpPr txBox="1"/>
          <p:nvPr/>
        </p:nvSpPr>
        <p:spPr>
          <a:xfrm>
            <a:off x="822960" y="637773"/>
            <a:ext cx="10287000" cy="477054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spcAft>
                <a:spcPts val="0"/>
              </a:spcAft>
              <a:defRPr sz="3100" b="1">
                <a:solidFill>
                  <a:srgbClr val="111820"/>
                </a:solidFill>
                <a:latin typeface="Arial"/>
              </a:defRPr>
            </a:pPr>
            <a:r>
              <a:t>Readiness gaps</a:t>
            </a:r>
          </a:p>
        </p:txBody>
      </p:sp>
      <p:sp>
        <p:nvSpPr>
          <p:cNvPr id="5" name="Text: The prototype is extensible; access"/>
          <p:cNvSpPr txBox="1"/>
          <p:nvPr/>
        </p:nvSpPr>
        <p:spPr>
          <a:xfrm>
            <a:off x="822960" y="1111329"/>
            <a:ext cx="10287000" cy="246221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spcAft>
                <a:spcPts val="0"/>
              </a:spcAft>
              <a:defRPr sz="1600" b="0">
                <a:solidFill>
                  <a:srgbClr val="5C6E81"/>
                </a:solidFill>
                <a:latin typeface="Arial"/>
              </a:defRPr>
            </a:pPr>
            <a:r>
              <a:t>The prototype is extensible; access, operations and retrieval depth are not yet production-ready.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563880" y="1676400"/>
            <a:ext cx="3444240" cy="3764279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1DAD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Rectangle 6"/>
          <p:cNvSpPr/>
          <p:nvPr/>
        </p:nvSpPr>
        <p:spPr>
          <a:xfrm>
            <a:off x="563880" y="1676400"/>
            <a:ext cx="3444240" cy="106680"/>
          </a:xfrm>
          <a:prstGeom prst="rect">
            <a:avLst/>
          </a:prstGeom>
          <a:solidFill>
            <a:srgbClr val="9B3D3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: ACCESS &amp; EXPOSURE"/>
          <p:cNvSpPr txBox="1"/>
          <p:nvPr/>
        </p:nvSpPr>
        <p:spPr>
          <a:xfrm>
            <a:off x="777240" y="1987852"/>
            <a:ext cx="2933700" cy="200055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spcAft>
                <a:spcPts val="0"/>
              </a:spcAft>
              <a:defRPr sz="1300" b="1">
                <a:solidFill>
                  <a:srgbClr val="111820"/>
                </a:solidFill>
                <a:latin typeface="Arial"/>
              </a:defRPr>
            </a:pPr>
            <a:r>
              <a:t>ACCESS &amp; EXPOSURE</a:t>
            </a:r>
          </a:p>
        </p:txBody>
      </p:sp>
      <p:sp>
        <p:nvSpPr>
          <p:cNvPr id="9" name="Oval 8"/>
          <p:cNvSpPr/>
          <p:nvPr/>
        </p:nvSpPr>
        <p:spPr>
          <a:xfrm>
            <a:off x="792480" y="2468880"/>
            <a:ext cx="91440" cy="91440"/>
          </a:xfrm>
          <a:prstGeom prst="ellipse">
            <a:avLst/>
          </a:prstGeom>
          <a:solidFill>
            <a:srgbClr val="9B3D3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Text: Direct node/PDF reads do not enforc"/>
          <p:cNvSpPr txBox="1"/>
          <p:nvPr/>
        </p:nvSpPr>
        <p:spPr>
          <a:xfrm>
            <a:off x="990599" y="2367737"/>
            <a:ext cx="2667000" cy="430887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spcAft>
                <a:spcPts val="0"/>
              </a:spcAft>
              <a:defRPr sz="1200" b="0">
                <a:solidFill>
                  <a:srgbClr val="25313D"/>
                </a:solidFill>
                <a:latin typeface="Arial"/>
              </a:defRPr>
            </a:pPr>
            <a:r>
              <a:rPr sz="1400" dirty="0"/>
              <a:t>Direct node/PDF reads do not enforce entity view access.</a:t>
            </a:r>
          </a:p>
        </p:txBody>
      </p:sp>
      <p:sp>
        <p:nvSpPr>
          <p:cNvPr id="11" name="Oval 10"/>
          <p:cNvSpPr/>
          <p:nvPr/>
        </p:nvSpPr>
        <p:spPr>
          <a:xfrm>
            <a:off x="792480" y="3185160"/>
            <a:ext cx="91440" cy="91440"/>
          </a:xfrm>
          <a:prstGeom prst="ellipse">
            <a:avLst/>
          </a:prstGeom>
          <a:solidFill>
            <a:srgbClr val="9B3D3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Text: One route permission covers every c"/>
          <p:cNvSpPr txBox="1"/>
          <p:nvPr/>
        </p:nvSpPr>
        <p:spPr>
          <a:xfrm>
            <a:off x="990599" y="3084017"/>
            <a:ext cx="2667000" cy="430887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spcAft>
                <a:spcPts val="0"/>
              </a:spcAft>
              <a:defRPr sz="1200" b="0">
                <a:solidFill>
                  <a:srgbClr val="25313D"/>
                </a:solidFill>
                <a:latin typeface="Arial"/>
              </a:defRPr>
            </a:pPr>
            <a:r>
              <a:rPr sz="1400" dirty="0"/>
              <a:t>One route permission covers every client and content type.</a:t>
            </a:r>
          </a:p>
        </p:txBody>
      </p:sp>
      <p:sp>
        <p:nvSpPr>
          <p:cNvPr id="13" name="Oval 12"/>
          <p:cNvSpPr/>
          <p:nvPr/>
        </p:nvSpPr>
        <p:spPr>
          <a:xfrm>
            <a:off x="792480" y="3901440"/>
            <a:ext cx="91440" cy="91440"/>
          </a:xfrm>
          <a:prstGeom prst="ellipse">
            <a:avLst/>
          </a:prstGeom>
          <a:solidFill>
            <a:srgbClr val="9B3D3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Text: Wildcard origins and responses expo"/>
          <p:cNvSpPr txBox="1"/>
          <p:nvPr/>
        </p:nvSpPr>
        <p:spPr>
          <a:xfrm>
            <a:off x="990599" y="3800297"/>
            <a:ext cx="2667000" cy="430887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spcAft>
                <a:spcPts val="0"/>
              </a:spcAft>
              <a:defRPr sz="1200" b="0">
                <a:solidFill>
                  <a:srgbClr val="25313D"/>
                </a:solidFill>
                <a:latin typeface="Arial"/>
              </a:defRPr>
            </a:pPr>
            <a:r>
              <a:rPr sz="1400" dirty="0"/>
              <a:t>Wildcard origins and responses expose email/file-path details.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746760" y="4648200"/>
            <a:ext cx="3078480" cy="579120"/>
          </a:xfrm>
          <a:prstGeom prst="roundRect">
            <a:avLst/>
          </a:prstGeom>
          <a:solidFill>
            <a:srgbClr val="F4F6F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Text: Risk: published but restricted cont"/>
          <p:cNvSpPr txBox="1"/>
          <p:nvPr/>
        </p:nvSpPr>
        <p:spPr>
          <a:xfrm>
            <a:off x="883920" y="4768483"/>
            <a:ext cx="2781300" cy="338554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spcAft>
                <a:spcPts val="0"/>
              </a:spcAft>
              <a:defRPr sz="1100" b="1">
                <a:solidFill>
                  <a:srgbClr val="111820"/>
                </a:solidFill>
                <a:latin typeface="Arial"/>
              </a:defRPr>
            </a:pPr>
            <a:r>
              <a:t>Risk: published but restricted content may be overexposed.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4373880" y="1676400"/>
            <a:ext cx="3444240" cy="3764279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1DAD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8" name="Rectangle 17"/>
          <p:cNvSpPr/>
          <p:nvPr/>
        </p:nvSpPr>
        <p:spPr>
          <a:xfrm>
            <a:off x="4373880" y="1676400"/>
            <a:ext cx="3444240" cy="106680"/>
          </a:xfrm>
          <a:prstGeom prst="rect">
            <a:avLst/>
          </a:prstGeom>
          <a:solidFill>
            <a:srgbClr val="E5B12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9" name="Text: RELIABILITY &amp; OPERATIONS"/>
          <p:cNvSpPr txBox="1"/>
          <p:nvPr/>
        </p:nvSpPr>
        <p:spPr>
          <a:xfrm>
            <a:off x="4587240" y="1987852"/>
            <a:ext cx="2933700" cy="200055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spcAft>
                <a:spcPts val="0"/>
              </a:spcAft>
              <a:defRPr sz="1300" b="1">
                <a:solidFill>
                  <a:srgbClr val="111820"/>
                </a:solidFill>
                <a:latin typeface="Arial"/>
              </a:defRPr>
            </a:pPr>
            <a:r>
              <a:t>RELIABILITY &amp; OPERATIONS</a:t>
            </a:r>
          </a:p>
        </p:txBody>
      </p:sp>
      <p:sp>
        <p:nvSpPr>
          <p:cNvPr id="20" name="Oval 19"/>
          <p:cNvSpPr/>
          <p:nvPr/>
        </p:nvSpPr>
        <p:spPr>
          <a:xfrm>
            <a:off x="4602480" y="2468880"/>
            <a:ext cx="91440" cy="91440"/>
          </a:xfrm>
          <a:prstGeom prst="ellipse">
            <a:avLst/>
          </a:prstGeom>
          <a:solidFill>
            <a:srgbClr val="E5B12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1" name="Text: HTTP and stdio duplicate the protoc"/>
          <p:cNvSpPr txBox="1"/>
          <p:nvPr/>
        </p:nvSpPr>
        <p:spPr>
          <a:xfrm>
            <a:off x="4800600" y="2367737"/>
            <a:ext cx="2667000" cy="430887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spcAft>
                <a:spcPts val="0"/>
              </a:spcAft>
              <a:defRPr sz="1200" b="0">
                <a:solidFill>
                  <a:srgbClr val="25313D"/>
                </a:solidFill>
                <a:latin typeface="Arial"/>
              </a:defRPr>
            </a:pPr>
            <a:r>
              <a:rPr sz="1400" dirty="0"/>
              <a:t>HTTP and stdio duplicate the protocol dispatcher.</a:t>
            </a:r>
          </a:p>
        </p:txBody>
      </p:sp>
      <p:sp>
        <p:nvSpPr>
          <p:cNvPr id="22" name="Oval 21"/>
          <p:cNvSpPr/>
          <p:nvPr/>
        </p:nvSpPr>
        <p:spPr>
          <a:xfrm>
            <a:off x="4602480" y="3185160"/>
            <a:ext cx="91440" cy="91440"/>
          </a:xfrm>
          <a:prstGeom prst="ellipse">
            <a:avLst/>
          </a:prstGeom>
          <a:solidFill>
            <a:srgbClr val="E5B12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3" name="Text: A faulty plugin can disrupt tool/re"/>
          <p:cNvSpPr txBox="1"/>
          <p:nvPr/>
        </p:nvSpPr>
        <p:spPr>
          <a:xfrm>
            <a:off x="4809490" y="3084017"/>
            <a:ext cx="2667000" cy="430887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spcAft>
                <a:spcPts val="0"/>
              </a:spcAft>
              <a:defRPr sz="1200" b="0">
                <a:solidFill>
                  <a:srgbClr val="25313D"/>
                </a:solidFill>
                <a:latin typeface="Arial"/>
              </a:defRPr>
            </a:pPr>
            <a:r>
              <a:rPr sz="1400" dirty="0"/>
              <a:t>A faulty plugin can disrupt tool/resource discovery.</a:t>
            </a:r>
          </a:p>
        </p:txBody>
      </p:sp>
      <p:sp>
        <p:nvSpPr>
          <p:cNvPr id="24" name="Oval 23"/>
          <p:cNvSpPr/>
          <p:nvPr/>
        </p:nvSpPr>
        <p:spPr>
          <a:xfrm>
            <a:off x="4602480" y="3901440"/>
            <a:ext cx="91440" cy="91440"/>
          </a:xfrm>
          <a:prstGeom prst="ellipse">
            <a:avLst/>
          </a:prstGeom>
          <a:solidFill>
            <a:srgbClr val="E5B12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5" name="Text: Logging/templates are partial; no b"/>
          <p:cNvSpPr txBox="1"/>
          <p:nvPr/>
        </p:nvSpPr>
        <p:spPr>
          <a:xfrm>
            <a:off x="4800600" y="3800297"/>
            <a:ext cx="2667000" cy="430887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spcAft>
                <a:spcPts val="0"/>
              </a:spcAft>
              <a:defRPr sz="1200" b="0">
                <a:solidFill>
                  <a:srgbClr val="25313D"/>
                </a:solidFill>
                <a:latin typeface="Arial"/>
              </a:defRPr>
            </a:pPr>
            <a:r>
              <a:rPr sz="1400"/>
              <a:t>Logging/templates are partial; no behavioural test suite.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4556760" y="4648200"/>
            <a:ext cx="3078480" cy="579120"/>
          </a:xfrm>
          <a:prstGeom prst="roundRect">
            <a:avLst/>
          </a:prstGeom>
          <a:solidFill>
            <a:srgbClr val="F4F6F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7" name="Text: Risk: maintenance drift and fragile"/>
          <p:cNvSpPr txBox="1"/>
          <p:nvPr/>
        </p:nvSpPr>
        <p:spPr>
          <a:xfrm>
            <a:off x="4693920" y="4768483"/>
            <a:ext cx="2781300" cy="338554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spcAft>
                <a:spcPts val="0"/>
              </a:spcAft>
              <a:defRPr sz="1100" b="1">
                <a:solidFill>
                  <a:srgbClr val="111820"/>
                </a:solidFill>
                <a:latin typeface="Arial"/>
              </a:defRPr>
            </a:pPr>
            <a:r>
              <a:rPr dirty="0"/>
              <a:t>Risk: maintenance drift and fragile client connections.</a:t>
            </a:r>
          </a:p>
        </p:txBody>
      </p:sp>
      <p:sp>
        <p:nvSpPr>
          <p:cNvPr id="28" name="Rounded Rectangle 27"/>
          <p:cNvSpPr/>
          <p:nvPr/>
        </p:nvSpPr>
        <p:spPr>
          <a:xfrm>
            <a:off x="8183879" y="1676400"/>
            <a:ext cx="3444240" cy="3764279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1DAD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9" name="Rectangle 28"/>
          <p:cNvSpPr/>
          <p:nvPr/>
        </p:nvSpPr>
        <p:spPr>
          <a:xfrm>
            <a:off x="8183879" y="1676400"/>
            <a:ext cx="3444240" cy="106680"/>
          </a:xfrm>
          <a:prstGeom prst="rect">
            <a:avLst/>
          </a:prstGeom>
          <a:solidFill>
            <a:srgbClr val="5C6E8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0" name="Text: RETRIEVAL QUALITY"/>
          <p:cNvSpPr txBox="1"/>
          <p:nvPr/>
        </p:nvSpPr>
        <p:spPr>
          <a:xfrm>
            <a:off x="8397240" y="1987852"/>
            <a:ext cx="2933700" cy="200055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spcAft>
                <a:spcPts val="0"/>
              </a:spcAft>
              <a:defRPr sz="1300" b="1">
                <a:solidFill>
                  <a:srgbClr val="111820"/>
                </a:solidFill>
                <a:latin typeface="Arial"/>
              </a:defRPr>
            </a:pPr>
            <a:r>
              <a:t>RETRIEVAL QUALITY</a:t>
            </a:r>
          </a:p>
        </p:txBody>
      </p:sp>
      <p:sp>
        <p:nvSpPr>
          <p:cNvPr id="31" name="Oval 30"/>
          <p:cNvSpPr/>
          <p:nvPr/>
        </p:nvSpPr>
        <p:spPr>
          <a:xfrm>
            <a:off x="8412480" y="2468880"/>
            <a:ext cx="91440" cy="91440"/>
          </a:xfrm>
          <a:prstGeom prst="ellipse">
            <a:avLst/>
          </a:prstGeom>
          <a:solidFill>
            <a:srgbClr val="5C6E8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2" name="Text: Search matches titles only; there i"/>
          <p:cNvSpPr txBox="1"/>
          <p:nvPr/>
        </p:nvSpPr>
        <p:spPr>
          <a:xfrm>
            <a:off x="8610600" y="2367737"/>
            <a:ext cx="2667000" cy="430887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spcAft>
                <a:spcPts val="0"/>
              </a:spcAft>
              <a:defRPr sz="1200" b="0">
                <a:solidFill>
                  <a:srgbClr val="25313D"/>
                </a:solidFill>
                <a:latin typeface="Arial"/>
              </a:defRPr>
            </a:pPr>
            <a:r>
              <a:rPr sz="1400" dirty="0"/>
              <a:t>Search matches titles only; there is no ranking or semantic index.</a:t>
            </a:r>
          </a:p>
        </p:txBody>
      </p:sp>
      <p:sp>
        <p:nvSpPr>
          <p:cNvPr id="33" name="Oval 32"/>
          <p:cNvSpPr/>
          <p:nvPr/>
        </p:nvSpPr>
        <p:spPr>
          <a:xfrm>
            <a:off x="8412480" y="3185160"/>
            <a:ext cx="91440" cy="91440"/>
          </a:xfrm>
          <a:prstGeom prst="ellipse">
            <a:avLst/>
          </a:prstGeom>
          <a:solidFill>
            <a:srgbClr val="5C6E8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4" name="Text: PDF extraction returns one text-bas"/>
          <p:cNvSpPr txBox="1"/>
          <p:nvPr/>
        </p:nvSpPr>
        <p:spPr>
          <a:xfrm>
            <a:off x="8610600" y="3084017"/>
            <a:ext cx="2667000" cy="430887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spcAft>
                <a:spcPts val="0"/>
              </a:spcAft>
              <a:defRPr sz="1200" b="0">
                <a:solidFill>
                  <a:srgbClr val="25313D"/>
                </a:solidFill>
                <a:latin typeface="Arial"/>
              </a:defRPr>
            </a:pPr>
            <a:r>
              <a:rPr sz="1400" dirty="0"/>
              <a:t>PDF extraction returns one text-based page at a time.</a:t>
            </a:r>
          </a:p>
        </p:txBody>
      </p:sp>
      <p:sp>
        <p:nvSpPr>
          <p:cNvPr id="35" name="Oval 34"/>
          <p:cNvSpPr/>
          <p:nvPr/>
        </p:nvSpPr>
        <p:spPr>
          <a:xfrm>
            <a:off x="8412480" y="3901440"/>
            <a:ext cx="91440" cy="91440"/>
          </a:xfrm>
          <a:prstGeom prst="ellipse">
            <a:avLst/>
          </a:prstGeom>
          <a:solidFill>
            <a:srgbClr val="5C6E8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6" name="Text: No OCR, cached extraction or attach"/>
          <p:cNvSpPr txBox="1"/>
          <p:nvPr/>
        </p:nvSpPr>
        <p:spPr>
          <a:xfrm>
            <a:off x="8610600" y="3800297"/>
            <a:ext cx="2667000" cy="430887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spcAft>
                <a:spcPts val="0"/>
              </a:spcAft>
              <a:defRPr sz="1200" b="0">
                <a:solidFill>
                  <a:srgbClr val="25313D"/>
                </a:solidFill>
                <a:latin typeface="Arial"/>
              </a:defRPr>
            </a:pPr>
            <a:r>
              <a:rPr sz="1400" dirty="0"/>
              <a:t>No OCR, cached extraction or attachment-level search.</a:t>
            </a:r>
          </a:p>
        </p:txBody>
      </p:sp>
      <p:sp>
        <p:nvSpPr>
          <p:cNvPr id="37" name="Rounded Rectangle 36"/>
          <p:cNvSpPr/>
          <p:nvPr/>
        </p:nvSpPr>
        <p:spPr>
          <a:xfrm>
            <a:off x="8366760" y="4648200"/>
            <a:ext cx="3078480" cy="579120"/>
          </a:xfrm>
          <a:prstGeom prst="roundRect">
            <a:avLst/>
          </a:prstGeom>
          <a:solidFill>
            <a:srgbClr val="F4F6F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8" name="Text: Risk: the demo works, but evidence "/>
          <p:cNvSpPr txBox="1"/>
          <p:nvPr/>
        </p:nvSpPr>
        <p:spPr>
          <a:xfrm>
            <a:off x="8503920" y="4768483"/>
            <a:ext cx="2781300" cy="338554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spcAft>
                <a:spcPts val="0"/>
              </a:spcAft>
              <a:defRPr sz="1100" b="1">
                <a:solidFill>
                  <a:srgbClr val="111820"/>
                </a:solidFill>
                <a:latin typeface="Arial"/>
              </a:defRPr>
            </a:pPr>
            <a:r>
              <a:t>Risk: the demo works, but evidence coverage is narrow.</a:t>
            </a:r>
          </a:p>
        </p:txBody>
      </p:sp>
      <p:sp>
        <p:nvSpPr>
          <p:cNvPr id="39" name="Rounded Rectangle 38"/>
          <p:cNvSpPr/>
          <p:nvPr/>
        </p:nvSpPr>
        <p:spPr>
          <a:xfrm>
            <a:off x="563880" y="5669280"/>
            <a:ext cx="11064240" cy="533400"/>
          </a:xfrm>
          <a:prstGeom prst="roundRect">
            <a:avLst/>
          </a:prstGeom>
          <a:solidFill>
            <a:srgbClr val="11182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0" name="Text: READINESS"/>
          <p:cNvSpPr txBox="1"/>
          <p:nvPr/>
        </p:nvSpPr>
        <p:spPr>
          <a:xfrm>
            <a:off x="883920" y="5828258"/>
            <a:ext cx="1206500" cy="215444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spcAft>
                <a:spcPts val="0"/>
              </a:spcAft>
              <a:defRPr sz="1100" b="1">
                <a:solidFill>
                  <a:srgbClr val="E5B123"/>
                </a:solidFill>
                <a:latin typeface="Arial"/>
              </a:defRPr>
            </a:pPr>
            <a:r>
              <a:rPr sz="1400" dirty="0"/>
              <a:t>READINESS</a:t>
            </a:r>
          </a:p>
        </p:txBody>
      </p:sp>
      <p:sp>
        <p:nvSpPr>
          <p:cNvPr id="41" name="Text: Appropriate for controlled internal"/>
          <p:cNvSpPr txBox="1"/>
          <p:nvPr/>
        </p:nvSpPr>
        <p:spPr>
          <a:xfrm>
            <a:off x="2410460" y="5828258"/>
            <a:ext cx="8534400" cy="215444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spcAft>
                <a:spcPts val="0"/>
              </a:spcAft>
              <a:defRPr sz="1400" b="1">
                <a:solidFill>
                  <a:srgbClr val="FFFFFF"/>
                </a:solidFill>
                <a:latin typeface="Arial"/>
              </a:defRPr>
            </a:pPr>
            <a:r>
              <a:rPr dirty="0"/>
              <a:t>Appropriate for controlled internal testing only; access hardening is the release gate.</a:t>
            </a:r>
          </a:p>
        </p:txBody>
      </p:sp>
      <p:sp>
        <p:nvSpPr>
          <p:cNvPr id="42" name="Text: 04"/>
          <p:cNvSpPr txBox="1"/>
          <p:nvPr/>
        </p:nvSpPr>
        <p:spPr>
          <a:xfrm>
            <a:off x="11125200" y="6483801"/>
            <a:ext cx="502920" cy="169277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r">
              <a:spcAft>
                <a:spcPts val="0"/>
              </a:spcAft>
              <a:defRPr sz="1100" b="1">
                <a:solidFill>
                  <a:srgbClr val="111820"/>
                </a:solidFill>
                <a:latin typeface="Arial"/>
              </a:defRPr>
            </a:pPr>
            <a:r>
              <a:t>04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CFBF7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563880" y="441960"/>
            <a:ext cx="76200" cy="434340"/>
          </a:xfrm>
          <a:prstGeom prst="rect">
            <a:avLst/>
          </a:prstGeom>
          <a:solidFill>
            <a:srgbClr val="E5B12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: 04 • DELIVERY"/>
          <p:cNvSpPr txBox="1"/>
          <p:nvPr/>
        </p:nvSpPr>
        <p:spPr>
          <a:xfrm>
            <a:off x="822960" y="433298"/>
            <a:ext cx="4953000" cy="215444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spcAft>
                <a:spcPts val="0"/>
              </a:spcAft>
              <a:defRPr sz="1400" b="1">
                <a:solidFill>
                  <a:srgbClr val="9A6A00"/>
                </a:solidFill>
                <a:latin typeface="Arial"/>
              </a:defRPr>
            </a:pPr>
            <a:r>
              <a:t>04 • DELIVERY</a:t>
            </a:r>
          </a:p>
        </p:txBody>
      </p:sp>
      <p:sp>
        <p:nvSpPr>
          <p:cNvPr id="4" name="Text: Pilot blueprint"/>
          <p:cNvSpPr txBox="1"/>
          <p:nvPr/>
        </p:nvSpPr>
        <p:spPr>
          <a:xfrm>
            <a:off x="822960" y="637773"/>
            <a:ext cx="10287000" cy="477054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spcAft>
                <a:spcPts val="0"/>
              </a:spcAft>
              <a:defRPr sz="3100" b="1">
                <a:solidFill>
                  <a:srgbClr val="111820"/>
                </a:solidFill>
                <a:latin typeface="Arial"/>
              </a:defRPr>
            </a:pPr>
            <a:r>
              <a:t>Pilot blueprint</a:t>
            </a:r>
          </a:p>
        </p:txBody>
      </p:sp>
      <p:sp>
        <p:nvSpPr>
          <p:cNvPr id="5" name="Text: Sequence the work around secure acc"/>
          <p:cNvSpPr txBox="1"/>
          <p:nvPr/>
        </p:nvSpPr>
        <p:spPr>
          <a:xfrm>
            <a:off x="822960" y="1111329"/>
            <a:ext cx="10287000" cy="246221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spcAft>
                <a:spcPts val="0"/>
              </a:spcAft>
              <a:defRPr sz="1600" b="0">
                <a:solidFill>
                  <a:srgbClr val="5C6E81"/>
                </a:solidFill>
                <a:latin typeface="Arial"/>
              </a:defRPr>
            </a:pPr>
            <a:r>
              <a:rPr dirty="0"/>
              <a:t>Sequence the work around secure access, retrieval quality and operational assurance.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563880" y="1676400"/>
            <a:ext cx="3444240" cy="3764279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1DAD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Rectangle 6"/>
          <p:cNvSpPr/>
          <p:nvPr/>
        </p:nvSpPr>
        <p:spPr>
          <a:xfrm>
            <a:off x="563880" y="1676400"/>
            <a:ext cx="3444240" cy="106680"/>
          </a:xfrm>
          <a:prstGeom prst="rect">
            <a:avLst/>
          </a:prstGeom>
          <a:solidFill>
            <a:srgbClr val="E5B12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Rounded Rectangle 7"/>
          <p:cNvSpPr/>
          <p:nvPr/>
        </p:nvSpPr>
        <p:spPr>
          <a:xfrm>
            <a:off x="777240" y="1981199"/>
            <a:ext cx="868680" cy="274320"/>
          </a:xfrm>
          <a:prstGeom prst="roundRect">
            <a:avLst/>
          </a:prstGeom>
          <a:solidFill>
            <a:srgbClr val="EEF1F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Text: SPRINT 4"/>
          <p:cNvSpPr txBox="1"/>
          <p:nvPr/>
        </p:nvSpPr>
        <p:spPr>
          <a:xfrm>
            <a:off x="777240" y="2041415"/>
            <a:ext cx="868680" cy="153888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>
              <a:spcAft>
                <a:spcPts val="0"/>
              </a:spcAft>
              <a:defRPr sz="1000" b="1">
                <a:solidFill>
                  <a:srgbClr val="111820"/>
                </a:solidFill>
                <a:latin typeface="Arial"/>
              </a:defRPr>
            </a:pPr>
            <a:r>
              <a:t>SPRINT 4</a:t>
            </a:r>
          </a:p>
        </p:txBody>
      </p:sp>
      <p:sp>
        <p:nvSpPr>
          <p:cNvPr id="10" name="Text: HARDEN ACCESS"/>
          <p:cNvSpPr txBox="1"/>
          <p:nvPr/>
        </p:nvSpPr>
        <p:spPr>
          <a:xfrm>
            <a:off x="777240" y="2467838"/>
            <a:ext cx="2781300" cy="215444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spcAft>
                <a:spcPts val="0"/>
              </a:spcAft>
              <a:defRPr sz="1400" b="1">
                <a:solidFill>
                  <a:srgbClr val="111820"/>
                </a:solidFill>
                <a:latin typeface="Arial"/>
              </a:defRPr>
            </a:pPr>
            <a:r>
              <a:t>HARDEN ACCESS</a:t>
            </a:r>
          </a:p>
        </p:txBody>
      </p:sp>
      <p:sp>
        <p:nvSpPr>
          <p:cNvPr id="11" name="Oval 10"/>
          <p:cNvSpPr/>
          <p:nvPr/>
        </p:nvSpPr>
        <p:spPr>
          <a:xfrm>
            <a:off x="792480" y="2895600"/>
            <a:ext cx="91440" cy="91440"/>
          </a:xfrm>
          <a:prstGeom prst="ellipse">
            <a:avLst/>
          </a:prstGeom>
          <a:solidFill>
            <a:srgbClr val="E5B12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Text: Share one dispatcher and response m"/>
          <p:cNvSpPr txBox="1"/>
          <p:nvPr/>
        </p:nvSpPr>
        <p:spPr>
          <a:xfrm>
            <a:off x="990599" y="2825234"/>
            <a:ext cx="2667000" cy="369332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spcAft>
                <a:spcPts val="0"/>
              </a:spcAft>
              <a:defRPr sz="1100" b="0">
                <a:solidFill>
                  <a:srgbClr val="25313D"/>
                </a:solidFill>
                <a:latin typeface="Arial"/>
              </a:defRPr>
            </a:pPr>
            <a:r>
              <a:rPr sz="1200" dirty="0"/>
              <a:t>Share one dispatcher and response model across both transports.</a:t>
            </a:r>
          </a:p>
        </p:txBody>
      </p:sp>
      <p:sp>
        <p:nvSpPr>
          <p:cNvPr id="13" name="Oval 12"/>
          <p:cNvSpPr/>
          <p:nvPr/>
        </p:nvSpPr>
        <p:spPr>
          <a:xfrm>
            <a:off x="792480" y="3489960"/>
            <a:ext cx="91440" cy="91440"/>
          </a:xfrm>
          <a:prstGeom prst="ellipse">
            <a:avLst/>
          </a:prstGeom>
          <a:solidFill>
            <a:srgbClr val="E5B12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Text: Apply entity-level permissions and "/>
          <p:cNvSpPr txBox="1"/>
          <p:nvPr/>
        </p:nvSpPr>
        <p:spPr>
          <a:xfrm>
            <a:off x="990599" y="3419594"/>
            <a:ext cx="2667000" cy="369332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spcAft>
                <a:spcPts val="0"/>
              </a:spcAft>
              <a:defRPr sz="1100" b="0">
                <a:solidFill>
                  <a:srgbClr val="25313D"/>
                </a:solidFill>
                <a:latin typeface="Arial"/>
              </a:defRPr>
            </a:pPr>
            <a:r>
              <a:rPr sz="1200" dirty="0"/>
              <a:t>Apply entity-level permissions and minimi</a:t>
            </a:r>
            <a:r>
              <a:rPr lang="en-US" sz="1200" dirty="0"/>
              <a:t>z</a:t>
            </a:r>
            <a:r>
              <a:rPr sz="1200" dirty="0"/>
              <a:t>e response data.</a:t>
            </a:r>
          </a:p>
        </p:txBody>
      </p:sp>
      <p:sp>
        <p:nvSpPr>
          <p:cNvPr id="15" name="Oval 14"/>
          <p:cNvSpPr/>
          <p:nvPr/>
        </p:nvSpPr>
        <p:spPr>
          <a:xfrm>
            <a:off x="792480" y="4084320"/>
            <a:ext cx="91440" cy="91440"/>
          </a:xfrm>
          <a:prstGeom prst="ellipse">
            <a:avLst/>
          </a:prstGeom>
          <a:solidFill>
            <a:srgbClr val="E5B12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Text: Add origin controls, usage limits a"/>
          <p:cNvSpPr txBox="1"/>
          <p:nvPr/>
        </p:nvSpPr>
        <p:spPr>
          <a:xfrm>
            <a:off x="990599" y="4013954"/>
            <a:ext cx="2667000" cy="369332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spcAft>
                <a:spcPts val="0"/>
              </a:spcAft>
              <a:defRPr sz="1100" b="0">
                <a:solidFill>
                  <a:srgbClr val="25313D"/>
                </a:solidFill>
                <a:latin typeface="Arial"/>
              </a:defRPr>
            </a:pPr>
            <a:r>
              <a:rPr sz="1200" dirty="0"/>
              <a:t>Add origin controls, usage limits and audit logging.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746760" y="4663440"/>
            <a:ext cx="3078480" cy="563880"/>
          </a:xfrm>
          <a:prstGeom prst="roundRect">
            <a:avLst/>
          </a:prstGeom>
          <a:solidFill>
            <a:srgbClr val="F4F6F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8" name="Text: SUCCESS"/>
          <p:cNvSpPr txBox="1"/>
          <p:nvPr/>
        </p:nvSpPr>
        <p:spPr>
          <a:xfrm>
            <a:off x="883920" y="4761830"/>
            <a:ext cx="609600" cy="138499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spcAft>
                <a:spcPts val="0"/>
              </a:spcAft>
              <a:defRPr sz="900" b="1">
                <a:solidFill>
                  <a:srgbClr val="E5B123"/>
                </a:solidFill>
                <a:latin typeface="Arial"/>
              </a:defRPr>
            </a:pPr>
            <a:r>
              <a:t>SUCCESS</a:t>
            </a:r>
          </a:p>
        </p:txBody>
      </p:sp>
      <p:sp>
        <p:nvSpPr>
          <p:cNvPr id="19" name="Text: Unauthorised content is never retur"/>
          <p:cNvSpPr txBox="1"/>
          <p:nvPr/>
        </p:nvSpPr>
        <p:spPr>
          <a:xfrm>
            <a:off x="883920" y="4975116"/>
            <a:ext cx="2743200" cy="153888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spcAft>
                <a:spcPts val="0"/>
              </a:spcAft>
              <a:defRPr sz="1000" b="1">
                <a:solidFill>
                  <a:srgbClr val="111820"/>
                </a:solidFill>
                <a:latin typeface="Arial"/>
              </a:defRPr>
            </a:pPr>
            <a:r>
              <a:t>Unauthorised content is never returned.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4373880" y="1676400"/>
            <a:ext cx="3444240" cy="3764279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1DAD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1" name="Rectangle 20"/>
          <p:cNvSpPr/>
          <p:nvPr/>
        </p:nvSpPr>
        <p:spPr>
          <a:xfrm>
            <a:off x="4373880" y="1676400"/>
            <a:ext cx="3444240" cy="106680"/>
          </a:xfrm>
          <a:prstGeom prst="rect">
            <a:avLst/>
          </a:prstGeom>
          <a:solidFill>
            <a:srgbClr val="5C6E8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2" name="Rounded Rectangle 21"/>
          <p:cNvSpPr/>
          <p:nvPr/>
        </p:nvSpPr>
        <p:spPr>
          <a:xfrm>
            <a:off x="4587240" y="1981199"/>
            <a:ext cx="868680" cy="274320"/>
          </a:xfrm>
          <a:prstGeom prst="roundRect">
            <a:avLst/>
          </a:prstGeom>
          <a:solidFill>
            <a:srgbClr val="EEF1F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3" name="Text: SPRINT 5"/>
          <p:cNvSpPr txBox="1"/>
          <p:nvPr/>
        </p:nvSpPr>
        <p:spPr>
          <a:xfrm>
            <a:off x="4587240" y="2041415"/>
            <a:ext cx="868680" cy="153888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>
              <a:spcAft>
                <a:spcPts val="0"/>
              </a:spcAft>
              <a:defRPr sz="1000" b="1">
                <a:solidFill>
                  <a:srgbClr val="111820"/>
                </a:solidFill>
                <a:latin typeface="Arial"/>
              </a:defRPr>
            </a:pPr>
            <a:r>
              <a:rPr dirty="0"/>
              <a:t>SPRINT 5</a:t>
            </a:r>
          </a:p>
        </p:txBody>
      </p:sp>
      <p:sp>
        <p:nvSpPr>
          <p:cNvPr id="24" name="Text: IMPROVE RETRIEVAL"/>
          <p:cNvSpPr txBox="1"/>
          <p:nvPr/>
        </p:nvSpPr>
        <p:spPr>
          <a:xfrm>
            <a:off x="4587240" y="2467838"/>
            <a:ext cx="2781300" cy="215444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spcAft>
                <a:spcPts val="0"/>
              </a:spcAft>
              <a:defRPr sz="1400" b="1">
                <a:solidFill>
                  <a:srgbClr val="111820"/>
                </a:solidFill>
                <a:latin typeface="Arial"/>
              </a:defRPr>
            </a:pPr>
            <a:r>
              <a:t>IMPROVE RETRIEVAL</a:t>
            </a:r>
          </a:p>
        </p:txBody>
      </p:sp>
      <p:sp>
        <p:nvSpPr>
          <p:cNvPr id="25" name="Oval 24"/>
          <p:cNvSpPr/>
          <p:nvPr/>
        </p:nvSpPr>
        <p:spPr>
          <a:xfrm>
            <a:off x="4602480" y="2895600"/>
            <a:ext cx="91440" cy="91440"/>
          </a:xfrm>
          <a:prstGeom prst="ellipse">
            <a:avLst/>
          </a:prstGeom>
          <a:solidFill>
            <a:srgbClr val="5C6E8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6" name="Text: Create a reusable extraction servic"/>
          <p:cNvSpPr txBox="1"/>
          <p:nvPr/>
        </p:nvSpPr>
        <p:spPr>
          <a:xfrm>
            <a:off x="4800600" y="2825234"/>
            <a:ext cx="2667000" cy="369332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spcAft>
                <a:spcPts val="0"/>
              </a:spcAft>
              <a:defRPr sz="1100" b="0">
                <a:solidFill>
                  <a:srgbClr val="25313D"/>
                </a:solidFill>
                <a:latin typeface="Arial"/>
              </a:defRPr>
            </a:pPr>
            <a:r>
              <a:rPr sz="1200" dirty="0"/>
              <a:t>Create a reusable extraction service with OCR and caching.</a:t>
            </a:r>
          </a:p>
        </p:txBody>
      </p:sp>
      <p:sp>
        <p:nvSpPr>
          <p:cNvPr id="27" name="Oval 26"/>
          <p:cNvSpPr/>
          <p:nvPr/>
        </p:nvSpPr>
        <p:spPr>
          <a:xfrm>
            <a:off x="4602480" y="3489960"/>
            <a:ext cx="91440" cy="91440"/>
          </a:xfrm>
          <a:prstGeom prst="ellipse">
            <a:avLst/>
          </a:prstGeom>
          <a:solidFill>
            <a:srgbClr val="5C6E8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8" name="Text: Establish a search baseline before "/>
          <p:cNvSpPr txBox="1"/>
          <p:nvPr/>
        </p:nvSpPr>
        <p:spPr>
          <a:xfrm>
            <a:off x="4800600" y="3419594"/>
            <a:ext cx="2667000" cy="369332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spcAft>
                <a:spcPts val="0"/>
              </a:spcAft>
              <a:defRPr sz="1100" b="0">
                <a:solidFill>
                  <a:srgbClr val="25313D"/>
                </a:solidFill>
                <a:latin typeface="Arial"/>
              </a:defRPr>
            </a:pPr>
            <a:r>
              <a:rPr sz="1200" dirty="0"/>
              <a:t>Establish a search baseline, then prototype RAG.</a:t>
            </a:r>
          </a:p>
        </p:txBody>
      </p:sp>
      <p:sp>
        <p:nvSpPr>
          <p:cNvPr id="29" name="Oval 28"/>
          <p:cNvSpPr/>
          <p:nvPr/>
        </p:nvSpPr>
        <p:spPr>
          <a:xfrm>
            <a:off x="4602480" y="4084320"/>
            <a:ext cx="91440" cy="91440"/>
          </a:xfrm>
          <a:prstGeom prst="ellipse">
            <a:avLst/>
          </a:prstGeom>
          <a:solidFill>
            <a:srgbClr val="5C6E8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0" name="Text: Return citation metadata and stable"/>
          <p:cNvSpPr txBox="1"/>
          <p:nvPr/>
        </p:nvSpPr>
        <p:spPr>
          <a:xfrm>
            <a:off x="4800600" y="4013954"/>
            <a:ext cx="2667000" cy="369332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spcAft>
                <a:spcPts val="0"/>
              </a:spcAft>
              <a:defRPr sz="1100" b="0">
                <a:solidFill>
                  <a:srgbClr val="25313D"/>
                </a:solidFill>
                <a:latin typeface="Arial"/>
              </a:defRPr>
            </a:pPr>
            <a:r>
              <a:rPr sz="1200" dirty="0"/>
              <a:t>Return citation metadata and stable source links.</a:t>
            </a:r>
          </a:p>
        </p:txBody>
      </p:sp>
      <p:sp>
        <p:nvSpPr>
          <p:cNvPr id="31" name="Rounded Rectangle 30"/>
          <p:cNvSpPr/>
          <p:nvPr/>
        </p:nvSpPr>
        <p:spPr>
          <a:xfrm>
            <a:off x="4556760" y="4663440"/>
            <a:ext cx="3078480" cy="563880"/>
          </a:xfrm>
          <a:prstGeom prst="roundRect">
            <a:avLst/>
          </a:prstGeom>
          <a:solidFill>
            <a:srgbClr val="F4F6F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2" name="Text: SUCCESS"/>
          <p:cNvSpPr txBox="1"/>
          <p:nvPr/>
        </p:nvSpPr>
        <p:spPr>
          <a:xfrm>
            <a:off x="4693920" y="4761830"/>
            <a:ext cx="609600" cy="138499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spcAft>
                <a:spcPts val="0"/>
              </a:spcAft>
              <a:defRPr sz="900" b="1">
                <a:solidFill>
                  <a:srgbClr val="5C6E81"/>
                </a:solidFill>
                <a:latin typeface="Arial"/>
              </a:defRPr>
            </a:pPr>
            <a:r>
              <a:t>SUCCESS</a:t>
            </a:r>
          </a:p>
        </p:txBody>
      </p:sp>
      <p:sp>
        <p:nvSpPr>
          <p:cNvPr id="33" name="Text: Representative nodes and PDFs are r"/>
          <p:cNvSpPr txBox="1"/>
          <p:nvPr/>
        </p:nvSpPr>
        <p:spPr>
          <a:xfrm>
            <a:off x="4693920" y="4975116"/>
            <a:ext cx="2743200" cy="153888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spcAft>
                <a:spcPts val="0"/>
              </a:spcAft>
              <a:defRPr sz="1000" b="1">
                <a:solidFill>
                  <a:srgbClr val="111820"/>
                </a:solidFill>
                <a:latin typeface="Arial"/>
              </a:defRPr>
            </a:pPr>
            <a:r>
              <a:rPr lang="en-US" dirty="0"/>
              <a:t>R</a:t>
            </a:r>
            <a:r>
              <a:rPr dirty="0"/>
              <a:t>etrievabl</a:t>
            </a:r>
            <a:r>
              <a:rPr lang="en-US" dirty="0"/>
              <a:t>e nodes</a:t>
            </a:r>
            <a:r>
              <a:rPr dirty="0"/>
              <a:t> with provenance.</a:t>
            </a:r>
          </a:p>
        </p:txBody>
      </p:sp>
      <p:sp>
        <p:nvSpPr>
          <p:cNvPr id="34" name="Rounded Rectangle 33"/>
          <p:cNvSpPr/>
          <p:nvPr/>
        </p:nvSpPr>
        <p:spPr>
          <a:xfrm>
            <a:off x="8183879" y="1676400"/>
            <a:ext cx="3444240" cy="3764279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1DAD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5" name="Rectangle 34"/>
          <p:cNvSpPr/>
          <p:nvPr/>
        </p:nvSpPr>
        <p:spPr>
          <a:xfrm>
            <a:off x="8183879" y="1676400"/>
            <a:ext cx="3444240" cy="106680"/>
          </a:xfrm>
          <a:prstGeom prst="rect">
            <a:avLst/>
          </a:prstGeom>
          <a:solidFill>
            <a:srgbClr val="2F6B5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6" name="Rounded Rectangle 35"/>
          <p:cNvSpPr/>
          <p:nvPr/>
        </p:nvSpPr>
        <p:spPr>
          <a:xfrm>
            <a:off x="8397240" y="1981199"/>
            <a:ext cx="868680" cy="274320"/>
          </a:xfrm>
          <a:prstGeom prst="roundRect">
            <a:avLst/>
          </a:prstGeom>
          <a:solidFill>
            <a:srgbClr val="EEF1F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7" name="Text: SPRINT 6"/>
          <p:cNvSpPr txBox="1"/>
          <p:nvPr/>
        </p:nvSpPr>
        <p:spPr>
          <a:xfrm>
            <a:off x="8397240" y="2041415"/>
            <a:ext cx="868680" cy="153888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>
              <a:spcAft>
                <a:spcPts val="0"/>
              </a:spcAft>
              <a:defRPr sz="1000" b="1">
                <a:solidFill>
                  <a:srgbClr val="111820"/>
                </a:solidFill>
                <a:latin typeface="Arial"/>
              </a:defRPr>
            </a:pPr>
            <a:r>
              <a:t>SPRINT 6</a:t>
            </a:r>
          </a:p>
        </p:txBody>
      </p:sp>
      <p:sp>
        <p:nvSpPr>
          <p:cNvPr id="38" name="Text: PROVE OPERATION"/>
          <p:cNvSpPr txBox="1"/>
          <p:nvPr/>
        </p:nvSpPr>
        <p:spPr>
          <a:xfrm>
            <a:off x="8397240" y="2467838"/>
            <a:ext cx="2781300" cy="215444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spcAft>
                <a:spcPts val="0"/>
              </a:spcAft>
              <a:defRPr sz="1400" b="1">
                <a:solidFill>
                  <a:srgbClr val="111820"/>
                </a:solidFill>
                <a:latin typeface="Arial"/>
              </a:defRPr>
            </a:pPr>
            <a:r>
              <a:t>PROVE OPERATION</a:t>
            </a:r>
          </a:p>
        </p:txBody>
      </p:sp>
      <p:sp>
        <p:nvSpPr>
          <p:cNvPr id="39" name="Oval 38"/>
          <p:cNvSpPr/>
          <p:nvPr/>
        </p:nvSpPr>
        <p:spPr>
          <a:xfrm>
            <a:off x="8412480" y="2895600"/>
            <a:ext cx="91440" cy="91440"/>
          </a:xfrm>
          <a:prstGeom prst="ellipse">
            <a:avLst/>
          </a:prstGeom>
          <a:solidFill>
            <a:srgbClr val="2F6B5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0" name="Text: Test the same behaviours over HTTP "/>
          <p:cNvSpPr txBox="1"/>
          <p:nvPr/>
        </p:nvSpPr>
        <p:spPr>
          <a:xfrm>
            <a:off x="8610600" y="2825234"/>
            <a:ext cx="2667000" cy="369332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spcAft>
                <a:spcPts val="0"/>
              </a:spcAft>
              <a:defRPr sz="1100" b="0">
                <a:solidFill>
                  <a:srgbClr val="25313D"/>
                </a:solidFill>
                <a:latin typeface="Arial"/>
              </a:defRPr>
            </a:pPr>
            <a:r>
              <a:rPr sz="1200" dirty="0"/>
              <a:t>Test the same behaviors over HTTP and command line.</a:t>
            </a:r>
          </a:p>
        </p:txBody>
      </p:sp>
      <p:sp>
        <p:nvSpPr>
          <p:cNvPr id="41" name="Oval 40"/>
          <p:cNvSpPr/>
          <p:nvPr/>
        </p:nvSpPr>
        <p:spPr>
          <a:xfrm>
            <a:off x="8412480" y="3489960"/>
            <a:ext cx="91440" cy="91440"/>
          </a:xfrm>
          <a:prstGeom prst="ellipse">
            <a:avLst/>
          </a:prstGeom>
          <a:solidFill>
            <a:srgbClr val="2F6B5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2" name="Text: Isolate plugin failures and make er"/>
          <p:cNvSpPr txBox="1"/>
          <p:nvPr/>
        </p:nvSpPr>
        <p:spPr>
          <a:xfrm>
            <a:off x="8610600" y="3419594"/>
            <a:ext cx="2667000" cy="369332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spcAft>
                <a:spcPts val="0"/>
              </a:spcAft>
              <a:defRPr sz="1100" b="0">
                <a:solidFill>
                  <a:srgbClr val="25313D"/>
                </a:solidFill>
                <a:latin typeface="Arial"/>
              </a:defRPr>
            </a:pPr>
            <a:r>
              <a:rPr sz="1200" dirty="0"/>
              <a:t>Isolate plugin failures and make errors observable.</a:t>
            </a:r>
          </a:p>
        </p:txBody>
      </p:sp>
      <p:sp>
        <p:nvSpPr>
          <p:cNvPr id="43" name="Oval 42"/>
          <p:cNvSpPr/>
          <p:nvPr/>
        </p:nvSpPr>
        <p:spPr>
          <a:xfrm>
            <a:off x="8412480" y="4084320"/>
            <a:ext cx="91440" cy="91440"/>
          </a:xfrm>
          <a:prstGeom prst="ellipse">
            <a:avLst/>
          </a:prstGeom>
          <a:solidFill>
            <a:srgbClr val="2F6B5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4" name="Text: Deploy to the test site and complet"/>
          <p:cNvSpPr txBox="1"/>
          <p:nvPr/>
        </p:nvSpPr>
        <p:spPr>
          <a:xfrm>
            <a:off x="8610600" y="4013954"/>
            <a:ext cx="2667000" cy="369332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spcAft>
                <a:spcPts val="0"/>
              </a:spcAft>
              <a:defRPr sz="1100" b="0">
                <a:solidFill>
                  <a:srgbClr val="25313D"/>
                </a:solidFill>
                <a:latin typeface="Arial"/>
              </a:defRPr>
            </a:pPr>
            <a:r>
              <a:rPr sz="1200" dirty="0"/>
              <a:t>Deploy to the test site and complete security review.</a:t>
            </a:r>
          </a:p>
        </p:txBody>
      </p:sp>
      <p:sp>
        <p:nvSpPr>
          <p:cNvPr id="45" name="Rounded Rectangle 44"/>
          <p:cNvSpPr/>
          <p:nvPr/>
        </p:nvSpPr>
        <p:spPr>
          <a:xfrm>
            <a:off x="8366760" y="4663440"/>
            <a:ext cx="3078480" cy="563880"/>
          </a:xfrm>
          <a:prstGeom prst="roundRect">
            <a:avLst/>
          </a:prstGeom>
          <a:solidFill>
            <a:srgbClr val="F4F6F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6" name="Text: SUCCESS"/>
          <p:cNvSpPr txBox="1"/>
          <p:nvPr/>
        </p:nvSpPr>
        <p:spPr>
          <a:xfrm>
            <a:off x="8503920" y="4761830"/>
            <a:ext cx="609600" cy="138499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spcAft>
                <a:spcPts val="0"/>
              </a:spcAft>
              <a:defRPr sz="900" b="1">
                <a:solidFill>
                  <a:srgbClr val="2F6B57"/>
                </a:solidFill>
                <a:latin typeface="Arial"/>
              </a:defRPr>
            </a:pPr>
            <a:r>
              <a:t>SUCCESS</a:t>
            </a:r>
          </a:p>
        </p:txBody>
      </p:sp>
      <p:sp>
        <p:nvSpPr>
          <p:cNvPr id="47" name="Text: The demonstration is repeatable and"/>
          <p:cNvSpPr txBox="1"/>
          <p:nvPr/>
        </p:nvSpPr>
        <p:spPr>
          <a:xfrm>
            <a:off x="8503920" y="4975116"/>
            <a:ext cx="2743200" cy="153888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spcAft>
                <a:spcPts val="0"/>
              </a:spcAft>
              <a:defRPr sz="1000" b="1">
                <a:solidFill>
                  <a:srgbClr val="111820"/>
                </a:solidFill>
                <a:latin typeface="Arial"/>
              </a:defRPr>
            </a:pPr>
            <a:r>
              <a:rPr lang="en-US" dirty="0"/>
              <a:t>R</a:t>
            </a:r>
            <a:r>
              <a:rPr dirty="0"/>
              <a:t>epeatable </a:t>
            </a:r>
            <a:r>
              <a:rPr lang="en-US" dirty="0"/>
              <a:t>Demonstration</a:t>
            </a:r>
            <a:endParaRPr dirty="0"/>
          </a:p>
        </p:txBody>
      </p:sp>
      <p:sp>
        <p:nvSpPr>
          <p:cNvPr id="48" name="Rounded Rectangle 47"/>
          <p:cNvSpPr/>
          <p:nvPr/>
        </p:nvSpPr>
        <p:spPr>
          <a:xfrm>
            <a:off x="563880" y="5669280"/>
            <a:ext cx="11064240" cy="533400"/>
          </a:xfrm>
          <a:prstGeom prst="roundRect">
            <a:avLst/>
          </a:prstGeom>
          <a:solidFill>
            <a:srgbClr val="11182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9" name="Text: FIRST DECISION"/>
          <p:cNvSpPr txBox="1"/>
          <p:nvPr/>
        </p:nvSpPr>
        <p:spPr>
          <a:xfrm>
            <a:off x="838200" y="5844242"/>
            <a:ext cx="1562100" cy="215444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spcAft>
                <a:spcPts val="0"/>
              </a:spcAft>
              <a:defRPr sz="1100" b="1">
                <a:solidFill>
                  <a:srgbClr val="E5B123"/>
                </a:solidFill>
                <a:latin typeface="Arial"/>
              </a:defRPr>
            </a:pPr>
            <a:r>
              <a:rPr sz="1400" dirty="0"/>
              <a:t>FIRST DECISION</a:t>
            </a:r>
          </a:p>
        </p:txBody>
      </p:sp>
      <p:sp>
        <p:nvSpPr>
          <p:cNvPr id="50" name="Text: Agree the pilot users and represent"/>
          <p:cNvSpPr txBox="1"/>
          <p:nvPr/>
        </p:nvSpPr>
        <p:spPr>
          <a:xfrm>
            <a:off x="2590800" y="5815720"/>
            <a:ext cx="8534400" cy="215444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spcAft>
                <a:spcPts val="0"/>
              </a:spcAft>
              <a:defRPr sz="1400" b="1">
                <a:solidFill>
                  <a:srgbClr val="FFFFFF"/>
                </a:solidFill>
                <a:latin typeface="Arial"/>
              </a:defRPr>
            </a:pPr>
            <a:r>
              <a:rPr dirty="0"/>
              <a:t>Agree the pilot users and representative content set before expanding search features.</a:t>
            </a:r>
          </a:p>
        </p:txBody>
      </p:sp>
      <p:sp>
        <p:nvSpPr>
          <p:cNvPr id="51" name="Text: 05"/>
          <p:cNvSpPr txBox="1"/>
          <p:nvPr/>
        </p:nvSpPr>
        <p:spPr>
          <a:xfrm>
            <a:off x="11125200" y="6483801"/>
            <a:ext cx="502920" cy="169277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r">
              <a:spcAft>
                <a:spcPts val="0"/>
              </a:spcAft>
              <a:defRPr sz="1100" b="1">
                <a:solidFill>
                  <a:srgbClr val="111820"/>
                </a:solidFill>
                <a:latin typeface="Arial"/>
              </a:defRPr>
            </a:pPr>
            <a:r>
              <a:t>05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16</TotalTime>
  <Words>559</Words>
  <Application>Microsoft Office PowerPoint</Application>
  <PresentationFormat>Widescreen</PresentationFormat>
  <Paragraphs>110</Paragraphs>
  <Slides>5</Slides>
  <Notes>1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5</vt:i4>
      </vt:variant>
    </vt:vector>
  </HeadingPairs>
  <TitlesOfParts>
    <vt:vector size="9" baseType="lpstr">
      <vt:lpstr>Aptos</vt:lpstr>
      <vt:lpstr>Arial</vt:lpstr>
      <vt:lpstr>Calibri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Manager/>
  <Company/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Policy Evidence Interface — Project Update</dc:title>
  <dc:subject>Project vision, Drupal MCP prototype proof, readiness assessment and pilot blueprint</dc:subject>
  <dc:creator>ANU TechLauncher Policy Evidence Interface Team</dc:creator>
  <cp:keywords>Drupal, MCP, policy evidence, AI, TechLauncher</cp:keywords>
  <dc:description>generated using python-pptx</dc:description>
  <cp:lastModifiedBy>Peter Wei</cp:lastModifiedBy>
  <cp:revision>4</cp:revision>
  <dcterms:created xsi:type="dcterms:W3CDTF">2013-01-27T09:14:16Z</dcterms:created>
  <dcterms:modified xsi:type="dcterms:W3CDTF">2026-07-31T06:56:05Z</dcterms:modified>
  <cp:category/>
</cp:coreProperties>
</file>